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League Gothic" panose="020B0604020202020204" charset="0"/>
      <p:regular r:id="rId25"/>
    </p:embeddedFont>
    <p:embeddedFont>
      <p:font typeface="Roboto Condensed" panose="02000000000000000000" pitchFamily="2" charset="0"/>
      <p:regular r:id="rId26"/>
    </p:embeddedFont>
    <p:embeddedFont>
      <p:font typeface="Roboto Condensed Bold" panose="02000000000000000000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9525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028700" y="4084550"/>
            <a:ext cx="16230600" cy="198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8400" spc="42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PROPUESTA DE PROYECTO</a:t>
            </a:r>
          </a:p>
          <a:p>
            <a:pPr algn="ctr">
              <a:lnSpc>
                <a:spcPts val="7560"/>
              </a:lnSpc>
            </a:pPr>
            <a:r>
              <a:rPr lang="en-US" sz="8400" spc="42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ESPECIFICACIÓN DE REQUISITOS DE SOFTWARE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00587" y="5966690"/>
            <a:ext cx="1368682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SISTEMA DE GESTIÓN Bibliotecaria UNILIB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t="-4667" b="-13958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425609" y="2994376"/>
            <a:ext cx="6072139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spc="376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FICHA DOCUMENTO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16084" y="5067300"/>
            <a:ext cx="8108667" cy="1898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5"/>
              </a:lnSpc>
            </a:pPr>
            <a:r>
              <a:rPr lang="en-US" sz="3625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Sección:</a:t>
            </a:r>
            <a:r>
              <a:rPr lang="en-US" sz="362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RQY1102</a:t>
            </a:r>
          </a:p>
          <a:p>
            <a:pPr algn="l">
              <a:lnSpc>
                <a:spcPts val="5075"/>
              </a:lnSpc>
            </a:pPr>
            <a:r>
              <a:rPr lang="en-US" sz="3625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Docente:</a:t>
            </a:r>
            <a:r>
              <a:rPr lang="en-US" sz="362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Mallen Gonzalez</a:t>
            </a:r>
          </a:p>
          <a:p>
            <a:pPr algn="l">
              <a:lnSpc>
                <a:spcPts val="5075"/>
              </a:lnSpc>
            </a:pPr>
            <a:r>
              <a:rPr lang="en-US" sz="3625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Grupo Nº:</a:t>
            </a:r>
            <a:r>
              <a:rPr lang="en-US" sz="362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77605" y="5067300"/>
            <a:ext cx="2872509" cy="6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5"/>
              </a:lnSpc>
            </a:pPr>
            <a:r>
              <a:rPr lang="en-US" sz="3625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Integrantes: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931874" y="5021260"/>
            <a:ext cx="4327426" cy="1260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5"/>
              </a:lnSpc>
            </a:pPr>
            <a:r>
              <a:rPr lang="en-US" sz="362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Byron Monsalve</a:t>
            </a:r>
          </a:p>
          <a:p>
            <a:pPr algn="l">
              <a:lnSpc>
                <a:spcPts val="5075"/>
              </a:lnSpc>
            </a:pPr>
            <a:r>
              <a:rPr lang="en-US" sz="362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Danilo Nuñez</a:t>
            </a:r>
          </a:p>
        </p:txBody>
      </p:sp>
    </p:spTree>
  </p:cSld>
  <p:clrMapOvr>
    <a:masterClrMapping/>
  </p:clrMapOvr>
  <p:transition spd="slow">
    <p:cover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2973184" y="4180478"/>
            <a:ext cx="12341632" cy="1726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65"/>
              </a:lnSpc>
              <a:spcBef>
                <a:spcPct val="0"/>
              </a:spcBef>
            </a:pPr>
            <a:r>
              <a:rPr lang="en-US" sz="10046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INTRODUCCION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2973184" y="4194175"/>
            <a:ext cx="12341632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AMBITO DEL SISTEMA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  <p:transition spd="slow">
    <p:cover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028700" y="1946275"/>
            <a:ext cx="16230600" cy="682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Problemas actuales:</a:t>
            </a:r>
          </a:p>
          <a:p>
            <a:pPr algn="just">
              <a:lnSpc>
                <a:spcPts val="5599"/>
              </a:lnSpc>
            </a:pPr>
            <a:endParaRPr lang="en-US" sz="3999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Actualmente el sistema de biblioteca presenta situaciones que entorpecen el proceso optimo de gestión de esta, tales como:</a:t>
            </a:r>
          </a:p>
          <a:p>
            <a:pPr algn="just">
              <a:lnSpc>
                <a:spcPts val="3999"/>
              </a:lnSpc>
            </a:pPr>
            <a:endParaRPr lang="en-US" sz="3999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Largas filas en los mesones de atención.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Extravío frecuente de libros.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Demoras en la atención al usuario.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Procesos manuales e ineficientes.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Falta de notificaciones ante las fechas (como la de devolución).</a:t>
            </a:r>
          </a:p>
        </p:txBody>
      </p:sp>
    </p:spTree>
  </p:cSld>
  <p:clrMapOvr>
    <a:masterClrMapping/>
  </p:clrMapOvr>
  <p:transition spd="slow">
    <p:cover dir="l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028700" y="1241425"/>
            <a:ext cx="16230600" cy="772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Lo que el sistema hará:</a:t>
            </a:r>
          </a:p>
          <a:p>
            <a:pPr algn="just">
              <a:lnSpc>
                <a:spcPts val="5599"/>
              </a:lnSpc>
            </a:pPr>
            <a:endParaRPr lang="en-US" sz="3999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Permitirá la gestión automatizada de los procesos de préstamo y devolución de libros y otros materiales.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Administra los registros de usuarios divididos por roles.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Mantendrá un catálogo en línea actualizado que los usuarios podrán consultar mediante filtros como autor, título o materia.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Facilitará la ubicación física de los materiales dentro de la biblioteca.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Generará reportes estadísticos detallados sobre el uso de libros y los usuarios más frecuentes para ayudar en la toma de decisiones.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Enviará notificaciones sobre fechas programadas de devolución.</a:t>
            </a:r>
          </a:p>
        </p:txBody>
      </p:sp>
    </p:spTree>
  </p:cSld>
  <p:clrMapOvr>
    <a:masterClrMapping/>
  </p:clrMapOvr>
  <p:transition spd="slow">
    <p:cover dir="r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028700" y="1652270"/>
            <a:ext cx="16230600" cy="7606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19"/>
              </a:lnSpc>
            </a:pPr>
            <a:r>
              <a:rPr lang="en-US" sz="4299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Lo que el sistema no hará:</a:t>
            </a:r>
          </a:p>
          <a:p>
            <a:pPr marL="928369" lvl="1" indent="-464185" algn="just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 gestionará la compra o adquisición de nuevos libros con proveedores externos.</a:t>
            </a:r>
          </a:p>
          <a:p>
            <a:pPr marL="928369" lvl="1" indent="-464185" algn="just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 incluirá la venta de libros ni el manejo de pagos por multas de forma digital (en esta primera etapa).</a:t>
            </a:r>
          </a:p>
          <a:p>
            <a:pPr marL="928369" lvl="1" indent="-464185" algn="just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 reemplazará el ordenamiento físico de los libros en los estantes.</a:t>
            </a:r>
          </a:p>
          <a:p>
            <a:pPr algn="just">
              <a:lnSpc>
                <a:spcPts val="6019"/>
              </a:lnSpc>
            </a:pPr>
            <a:endParaRPr lang="en-US" sz="4299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algn="just">
              <a:lnSpc>
                <a:spcPts val="6019"/>
              </a:lnSpc>
            </a:pPr>
            <a:r>
              <a:rPr lang="en-US" sz="4299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Beneficios y Objetivos:</a:t>
            </a:r>
          </a:p>
          <a:p>
            <a:pPr marL="928369" lvl="1" indent="-464185" algn="just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Eficiencia operativa: Eliminar las largas filas en los mesones de atención mediante procesos automatizados.</a:t>
            </a:r>
          </a:p>
        </p:txBody>
      </p:sp>
    </p:spTree>
  </p:cSld>
  <p:clrMapOvr>
    <a:masterClrMapping/>
  </p:clrMapOvr>
  <p:transition spd="slow">
    <p:cover dir="r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2973184" y="4194175"/>
            <a:ext cx="12341632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CICLO DE VIDA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  <p:transition spd="slow">
    <p:cover dir="r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3D29D19-3979-9447-D534-353CCDE8A4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300" y="842532"/>
            <a:ext cx="10439400" cy="8601935"/>
          </a:xfrm>
          <a:prstGeom prst="rect">
            <a:avLst/>
          </a:prstGeom>
        </p:spPr>
      </p:pic>
    </p:spTree>
  </p:cSld>
  <p:clrMapOvr>
    <a:masterClrMapping/>
  </p:clrMapOvr>
  <p:transition spd="slow">
    <p:cover dir="l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3044778" y="6580977"/>
            <a:ext cx="5419436" cy="3011503"/>
            <a:chOff x="0" y="0"/>
            <a:chExt cx="1427341" cy="7931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27341" cy="793153"/>
            </a:xfrm>
            <a:custGeom>
              <a:avLst/>
              <a:gdLst/>
              <a:ahLst/>
              <a:cxnLst/>
              <a:rect l="l" t="t" r="r" b="b"/>
              <a:pathLst>
                <a:path w="1427341" h="793153">
                  <a:moveTo>
                    <a:pt x="0" y="0"/>
                  </a:moveTo>
                  <a:lnTo>
                    <a:pt x="1427341" y="0"/>
                  </a:lnTo>
                  <a:lnTo>
                    <a:pt x="1427341" y="793153"/>
                  </a:lnTo>
                  <a:lnTo>
                    <a:pt x="0" y="793153"/>
                  </a:lnTo>
                  <a:close/>
                </a:path>
              </a:pathLst>
            </a:custGeom>
            <a:solidFill>
              <a:srgbClr val="CCCCCC">
                <a:alpha val="14902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427341" cy="8312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453931"/>
            <a:ext cx="16230600" cy="3630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80"/>
              </a:lnSpc>
            </a:pPr>
            <a:r>
              <a:rPr lang="en-US" sz="37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Enfoque Híbrido (Cascada + Prácticas Ágiles) Para promover la entrega exitosa de la propuesta de solución, el proyecto UNILIB se gestionará mediante un enfoque híbrido. </a:t>
            </a:r>
          </a:p>
          <a:p>
            <a:pPr algn="just">
              <a:lnSpc>
                <a:spcPts val="5180"/>
              </a:lnSpc>
            </a:pPr>
            <a:r>
              <a:rPr lang="en-US" sz="37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Estos enfoque nos permiten:</a:t>
            </a:r>
          </a:p>
          <a:p>
            <a:pPr algn="just">
              <a:lnSpc>
                <a:spcPts val="2960"/>
              </a:lnSpc>
            </a:pPr>
            <a:endParaRPr lang="en-US" sz="37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798834" lvl="1" indent="-399417" algn="just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 las fases macro (Cascada) aseguran documentación y orden.</a:t>
            </a:r>
          </a:p>
          <a:p>
            <a:pPr marL="798834" lvl="1" indent="-399417" algn="just">
              <a:lnSpc>
                <a:spcPts val="5180"/>
              </a:lnSpc>
              <a:buFont typeface="Arial"/>
              <a:buChar char="•"/>
            </a:pPr>
            <a:r>
              <a:rPr lang="en-US" sz="37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 en el desarrollo modular (Ágil) permite flexibilidad y feedback temprano.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44778" y="795128"/>
            <a:ext cx="12198443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METODOLOGÍA DE GESTIÓN APLICADA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77255" y="6886180"/>
            <a:ext cx="4954482" cy="2343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6"/>
              </a:lnSpc>
            </a:pPr>
            <a:r>
              <a:rPr lang="en-US" sz="221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METODOLOGÍA TRADICIONAL (CASCADA)</a:t>
            </a:r>
          </a:p>
          <a:p>
            <a:pPr marL="478995" lvl="1" indent="-239498" algn="l">
              <a:lnSpc>
                <a:spcPts val="3106"/>
              </a:lnSpc>
              <a:buFont typeface="Arial"/>
              <a:buChar char="•"/>
            </a:pPr>
            <a:r>
              <a:rPr lang="en-US" sz="221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Estructura secuencial de fases</a:t>
            </a:r>
          </a:p>
          <a:p>
            <a:pPr marL="478995" lvl="1" indent="-239498" algn="l">
              <a:lnSpc>
                <a:spcPts val="3106"/>
              </a:lnSpc>
              <a:buFont typeface="Arial"/>
              <a:buChar char="•"/>
            </a:pPr>
            <a:r>
              <a:rPr lang="en-US" sz="221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Planificación robusta desde el inicio</a:t>
            </a:r>
          </a:p>
          <a:p>
            <a:pPr marL="478995" lvl="1" indent="-239498" algn="l">
              <a:lnSpc>
                <a:spcPts val="3106"/>
              </a:lnSpc>
              <a:buFont typeface="Arial"/>
              <a:buChar char="•"/>
            </a:pPr>
            <a:r>
              <a:rPr lang="en-US" sz="221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Levantamiento de requisitos IEEE 830</a:t>
            </a:r>
          </a:p>
          <a:p>
            <a:pPr marL="478995" lvl="1" indent="-239498" algn="l">
              <a:lnSpc>
                <a:spcPts val="3106"/>
              </a:lnSpc>
              <a:buFont typeface="Arial"/>
              <a:buChar char="•"/>
            </a:pPr>
            <a:r>
              <a:rPr lang="en-US" sz="221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Arquitectura sólida definida</a:t>
            </a:r>
          </a:p>
          <a:p>
            <a:pPr marL="478995" lvl="1" indent="-239498" algn="l">
              <a:lnSpc>
                <a:spcPts val="3106"/>
              </a:lnSpc>
              <a:buFont typeface="Arial"/>
              <a:buChar char="•"/>
            </a:pPr>
            <a:r>
              <a:rPr lang="en-US" sz="221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Documentación completa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144000" y="6580977"/>
            <a:ext cx="5419436" cy="3011503"/>
            <a:chOff x="0" y="0"/>
            <a:chExt cx="1427341" cy="79315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27341" cy="793153"/>
            </a:xfrm>
            <a:custGeom>
              <a:avLst/>
              <a:gdLst/>
              <a:ahLst/>
              <a:cxnLst/>
              <a:rect l="l" t="t" r="r" b="b"/>
              <a:pathLst>
                <a:path w="1427341" h="793153">
                  <a:moveTo>
                    <a:pt x="0" y="0"/>
                  </a:moveTo>
                  <a:lnTo>
                    <a:pt x="1427341" y="0"/>
                  </a:lnTo>
                  <a:lnTo>
                    <a:pt x="1427341" y="793153"/>
                  </a:lnTo>
                  <a:lnTo>
                    <a:pt x="0" y="793153"/>
                  </a:lnTo>
                  <a:close/>
                </a:path>
              </a:pathLst>
            </a:custGeom>
            <a:solidFill>
              <a:srgbClr val="D9D9D9">
                <a:alpha val="14902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427341" cy="8312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539287" y="6886180"/>
            <a:ext cx="4647912" cy="2343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6"/>
              </a:lnSpc>
            </a:pPr>
            <a:r>
              <a:rPr lang="en-US" sz="221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METODOLOGÍA ÁGIL</a:t>
            </a:r>
          </a:p>
          <a:p>
            <a:pPr marL="478995" lvl="1" indent="-239498" algn="just">
              <a:lnSpc>
                <a:spcPts val="3106"/>
              </a:lnSpc>
              <a:buFont typeface="Arial"/>
              <a:buChar char="•"/>
            </a:pPr>
            <a:r>
              <a:rPr lang="en-US" sz="221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Desarrollo por módulos</a:t>
            </a:r>
          </a:p>
          <a:p>
            <a:pPr marL="478995" lvl="1" indent="-239498" algn="just">
              <a:lnSpc>
                <a:spcPts val="3106"/>
              </a:lnSpc>
              <a:buFont typeface="Arial"/>
              <a:buChar char="•"/>
            </a:pPr>
            <a:r>
              <a:rPr lang="en-US" sz="221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Entregas incrementales</a:t>
            </a:r>
          </a:p>
          <a:p>
            <a:pPr marL="478995" lvl="1" indent="-239498" algn="just">
              <a:lnSpc>
                <a:spcPts val="3106"/>
              </a:lnSpc>
              <a:buFont typeface="Arial"/>
              <a:buChar char="•"/>
            </a:pPr>
            <a:r>
              <a:rPr lang="en-US" sz="221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Revisiones tempranas del prototipo</a:t>
            </a:r>
          </a:p>
          <a:p>
            <a:pPr marL="478995" lvl="1" indent="-239498" algn="just">
              <a:lnSpc>
                <a:spcPts val="3106"/>
              </a:lnSpc>
              <a:buFont typeface="Arial"/>
              <a:buChar char="•"/>
            </a:pPr>
            <a:r>
              <a:rPr lang="en-US" sz="221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Adaptabilidad a cambios</a:t>
            </a:r>
          </a:p>
          <a:p>
            <a:pPr marL="478995" lvl="1" indent="-239498" algn="just">
              <a:lnSpc>
                <a:spcPts val="3106"/>
              </a:lnSpc>
              <a:buFont typeface="Arial"/>
              <a:buChar char="•"/>
            </a:pPr>
            <a:r>
              <a:rPr lang="en-US" sz="221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Feedback continuo del usuario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1844402" y="2247900"/>
            <a:ext cx="14599195" cy="7123198"/>
          </a:xfrm>
          <a:custGeom>
            <a:avLst/>
            <a:gdLst/>
            <a:ahLst/>
            <a:cxnLst/>
            <a:rect l="l" t="t" r="r" b="b"/>
            <a:pathLst>
              <a:path w="14599195" h="7123198">
                <a:moveTo>
                  <a:pt x="0" y="0"/>
                </a:moveTo>
                <a:lnTo>
                  <a:pt x="14599196" y="0"/>
                </a:lnTo>
                <a:lnTo>
                  <a:pt x="14599196" y="7123198"/>
                </a:lnTo>
                <a:lnTo>
                  <a:pt x="0" y="7123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4549619" y="1019175"/>
            <a:ext cx="9188761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CARTA GANTT</a:t>
            </a:r>
          </a:p>
        </p:txBody>
      </p:sp>
    </p:spTree>
  </p:cSld>
  <p:clrMapOvr>
    <a:masterClrMapping/>
  </p:clrMapOvr>
  <p:transition spd="slow">
    <p:cover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2131335" y="1863880"/>
            <a:ext cx="14025329" cy="6463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0"/>
              </a:lnSpc>
            </a:pPr>
            <a:r>
              <a:rPr lang="en-US" sz="46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ALCANCE DEL PROYECTO:</a:t>
            </a:r>
          </a:p>
          <a:p>
            <a:pPr algn="l">
              <a:lnSpc>
                <a:spcPts val="6440"/>
              </a:lnSpc>
            </a:pPr>
            <a:endParaRPr lang="en-US" sz="4600" b="1">
              <a:solidFill>
                <a:srgbClr val="FFFFFF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  <a:p>
            <a:pPr marL="993289" lvl="1" indent="-496645" algn="l">
              <a:lnSpc>
                <a:spcPts val="6440"/>
              </a:lnSpc>
              <a:buFont typeface="Arial"/>
              <a:buChar char="•"/>
            </a:pPr>
            <a:r>
              <a:rPr lang="en-US" sz="46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Gestión de usuarios (registro, autenticación, roles)</a:t>
            </a:r>
          </a:p>
          <a:p>
            <a:pPr marL="993289" lvl="1" indent="-496645" algn="l">
              <a:lnSpc>
                <a:spcPts val="6440"/>
              </a:lnSpc>
              <a:buFont typeface="Arial"/>
              <a:buChar char="•"/>
            </a:pPr>
            <a:r>
              <a:rPr lang="en-US" sz="46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Gestión de inventario (CRUD de libros, ubicación física)</a:t>
            </a:r>
          </a:p>
          <a:p>
            <a:pPr marL="993289" lvl="1" indent="-496645" algn="l">
              <a:lnSpc>
                <a:spcPts val="6440"/>
              </a:lnSpc>
              <a:buFont typeface="Arial"/>
              <a:buChar char="•"/>
            </a:pPr>
            <a:r>
              <a:rPr lang="en-US" sz="46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Préstamos y devoluciones automatizadas</a:t>
            </a:r>
          </a:p>
          <a:p>
            <a:pPr marL="993289" lvl="1" indent="-496645" algn="l">
              <a:lnSpc>
                <a:spcPts val="6440"/>
              </a:lnSpc>
              <a:buFont typeface="Arial"/>
              <a:buChar char="•"/>
            </a:pPr>
            <a:r>
              <a:rPr lang="en-US" sz="46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Catálogo en línea con filtros de búsqueda</a:t>
            </a:r>
          </a:p>
          <a:p>
            <a:pPr marL="993289" lvl="1" indent="-496645" algn="l">
              <a:lnSpc>
                <a:spcPts val="6440"/>
              </a:lnSpc>
              <a:buFont typeface="Arial"/>
              <a:buChar char="•"/>
            </a:pPr>
            <a:r>
              <a:rPr lang="en-US" sz="46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Notificaciones automáticas de devolución</a:t>
            </a:r>
          </a:p>
          <a:p>
            <a:pPr marL="993289" lvl="1" indent="-496645" algn="l">
              <a:lnSpc>
                <a:spcPts val="6440"/>
              </a:lnSpc>
              <a:buFont typeface="Arial"/>
              <a:buChar char="•"/>
            </a:pPr>
            <a:r>
              <a:rPr lang="en-US" sz="46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Reportes estadísticos de uso</a:t>
            </a:r>
          </a:p>
        </p:txBody>
      </p:sp>
    </p:spTree>
  </p:cSld>
  <p:clrMapOvr>
    <a:masterClrMapping/>
  </p:clrMapOvr>
  <p:transition spd="slow">
    <p:cover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2550309" y="4194175"/>
            <a:ext cx="13187382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FUNCIONES DEL PRODUCTO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  <p:transition spd="slow">
    <p:cover dir="r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351973" y="1276350"/>
            <a:ext cx="15584055" cy="798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Módulo de Gestión de Usuarios: </a:t>
            </a:r>
            <a:r>
              <a:rPr lang="en-US" sz="45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Control de acceso y permisos para estudiantes, docentes, bibliotecarios y administradores.  </a:t>
            </a:r>
          </a:p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​Módulo de Inventario: </a:t>
            </a:r>
            <a:r>
              <a:rPr lang="en-US" sz="45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Gestión del ciclo de vida de materiales (modificación) y ubicación física.</a:t>
            </a:r>
            <a:r>
              <a:rPr lang="en-US" sz="45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</a:t>
            </a:r>
          </a:p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​Módulo de Transacciones: </a:t>
            </a:r>
            <a:r>
              <a:rPr lang="en-US" sz="45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Automatización de préstamos y devoluciones con fechas programadas.  </a:t>
            </a:r>
          </a:p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​Módulo de Catálogo: </a:t>
            </a:r>
            <a:r>
              <a:rPr lang="en-US" sz="45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Interfaz de búsqueda pública con filtros avanzados.  </a:t>
            </a:r>
          </a:p>
          <a:p>
            <a:pPr marL="971550" lvl="1" indent="-485775" algn="l">
              <a:lnSpc>
                <a:spcPts val="6299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​Módulo de Reportes: </a:t>
            </a:r>
            <a:r>
              <a:rPr lang="en-US" sz="45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Informes sobre uso de libros y usuarios frecuentes para toma de decisiones.  </a:t>
            </a:r>
          </a:p>
        </p:txBody>
      </p:sp>
    </p:spTree>
  </p:cSld>
  <p:clrMapOvr>
    <a:masterClrMapping/>
  </p:clrMapOvr>
  <p:transition spd="slow">
    <p:cover dir="l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2748802" y="4194175"/>
            <a:ext cx="13187382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CARACTERÍSTICAS DE LOS USUARIOS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  <p:transition spd="slow">
    <p:cover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334941" y="1276350"/>
            <a:ext cx="15601086" cy="798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just">
              <a:lnSpc>
                <a:spcPts val="6299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Estudiante / Docente: </a:t>
            </a:r>
            <a:r>
              <a:rPr lang="en-US" sz="45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Usuario final (Nivel Básico). Consulta catálogo y reserva materiales.  </a:t>
            </a:r>
          </a:p>
          <a:p>
            <a:pPr marL="971550" lvl="1" indent="-485775" algn="just">
              <a:lnSpc>
                <a:spcPts val="6299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​Bibliotecario: </a:t>
            </a:r>
            <a:r>
              <a:rPr lang="en-US" sz="45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Personal operativo (Nivel Medio). Registra transacciones diarias y gestiona morosidad.  </a:t>
            </a:r>
          </a:p>
          <a:p>
            <a:pPr marL="971550" lvl="1" indent="-485775" algn="just">
              <a:lnSpc>
                <a:spcPts val="6299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​Editor de Catálogo: </a:t>
            </a:r>
            <a:r>
              <a:rPr lang="en-US" sz="45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Usuario especializado (Nivel Medio-Alto). Realiza el CRUD de registros bibliográficos.  </a:t>
            </a:r>
          </a:p>
          <a:p>
            <a:pPr marL="971550" lvl="1" indent="-485775" algn="just">
              <a:lnSpc>
                <a:spcPts val="6299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​Administrador: </a:t>
            </a:r>
            <a:r>
              <a:rPr lang="en-US" sz="45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Gestión de negocio (Nivel Avanzado). Define reglas de negocio y gestiona cuentas.  </a:t>
            </a:r>
          </a:p>
          <a:p>
            <a:pPr marL="971550" lvl="1" indent="-485775" algn="just">
              <a:lnSpc>
                <a:spcPts val="6299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​Superadmin: </a:t>
            </a:r>
            <a:r>
              <a:rPr lang="en-US" sz="45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Superusuario (Nivel Avanzado). Control total, seguridad y administración de bases de datos. </a:t>
            </a:r>
          </a:p>
        </p:txBody>
      </p:sp>
    </p:spTree>
  </p:cSld>
  <p:clrMapOvr>
    <a:masterClrMapping/>
  </p:clrMapOvr>
  <p:transition spd="slow">
    <p:cover dir="l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2973184" y="4194175"/>
            <a:ext cx="12341632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REQUISITOS DEL PROYECTO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  <p:transition spd="slow">
    <p:cover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5576112" y="866775"/>
            <a:ext cx="7135777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REQUISITOS FUNCIONALES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976DDD3-4AE1-D5C6-283A-89803F8B62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9" t="24712" r="52244" b="4748"/>
          <a:stretch>
            <a:fillRect/>
          </a:stretch>
        </p:blipFill>
        <p:spPr>
          <a:xfrm>
            <a:off x="865354" y="2781300"/>
            <a:ext cx="7295072" cy="65532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39DC042-2295-32A1-9CBA-39FD31FFEC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2" t="32743" r="3475" b="4703"/>
          <a:stretch>
            <a:fillRect/>
          </a:stretch>
        </p:blipFill>
        <p:spPr>
          <a:xfrm>
            <a:off x="9241276" y="3467100"/>
            <a:ext cx="7598923" cy="585491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4549619" y="866775"/>
            <a:ext cx="9188761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REQUISITOS NO FUNCIONALES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79B63C3-2709-C0B6-F2B4-3EE16EB957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3" t="30528" r="13383" b="15882"/>
          <a:stretch>
            <a:fillRect/>
          </a:stretch>
        </p:blipFill>
        <p:spPr>
          <a:xfrm>
            <a:off x="2971107" y="2933700"/>
            <a:ext cx="12345784" cy="5105399"/>
          </a:xfrm>
          <a:prstGeom prst="rect">
            <a:avLst/>
          </a:prstGeom>
        </p:spPr>
      </p:pic>
    </p:spTree>
  </p:cSld>
  <p:clrMapOvr>
    <a:masterClrMapping/>
  </p:clrMapOvr>
  <p:transition spd="slow">
    <p:circl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2973184" y="4194175"/>
            <a:ext cx="12341632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RESUMEN Y CONCLUSIONES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1480039" y="2943225"/>
            <a:ext cx="15327923" cy="425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45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Metodología: </a:t>
            </a:r>
            <a:r>
              <a:rPr lang="en-US" sz="45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Enfoque híbrido (Cascada para planificación y Ágil para desarrollo modular). </a:t>
            </a:r>
          </a:p>
          <a:p>
            <a:pPr algn="l">
              <a:lnSpc>
                <a:spcPts val="6750"/>
              </a:lnSpc>
            </a:pPr>
            <a:endParaRPr lang="en-US" sz="45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algn="l">
              <a:lnSpc>
                <a:spcPts val="6750"/>
              </a:lnSpc>
            </a:pPr>
            <a:r>
              <a:rPr lang="en-US" sz="45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​Objetivo Principal: </a:t>
            </a:r>
            <a:r>
              <a:rPr lang="en-US" sz="45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Eliminar filas, reducir el extravío frecuente de materiales y ofrecer acceso seguro desde cualquier lugar.  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  <p:transition spd="slow">
    <p:cover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1480039" y="1325218"/>
            <a:ext cx="15327923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45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Futuro: 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938075" y="2324100"/>
            <a:ext cx="16321225" cy="7300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3199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Implementación de tecnología RFID:</a:t>
            </a:r>
          </a:p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Reemplaza códigos de barras por etiquetas de radiofrecuencia. </a:t>
            </a:r>
          </a:p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Beneficio: elimina el extravío de libros y permite auditorías rápidas.</a:t>
            </a:r>
          </a:p>
          <a:p>
            <a:pPr algn="just">
              <a:lnSpc>
                <a:spcPts val="4479"/>
              </a:lnSpc>
            </a:pPr>
            <a:r>
              <a:rPr lang="en-US" sz="3199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Kioscos de autoservicio (Tótems):</a:t>
            </a:r>
          </a:p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Terminales para que los estudiantes hagan sus propios préstamos y devoluciones. </a:t>
            </a:r>
          </a:p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Beneficio: elimina las filas en los mesones.</a:t>
            </a:r>
          </a:p>
          <a:p>
            <a:pPr algn="just">
              <a:lnSpc>
                <a:spcPts val="4479"/>
              </a:lnSpc>
            </a:pPr>
            <a:r>
              <a:rPr lang="en-US" sz="3199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Autenticación institucional unificada (SSO):</a:t>
            </a:r>
          </a:p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Integración con el directorio de la universidad para usar las mismas credenciales. </a:t>
            </a:r>
          </a:p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Beneficio: mayor seguridad y revocación automática de acceso.</a:t>
            </a:r>
          </a:p>
          <a:p>
            <a:pPr algn="just">
              <a:lnSpc>
                <a:spcPts val="4479"/>
              </a:lnSpc>
            </a:pPr>
            <a:r>
              <a:rPr lang="en-US" sz="3199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Pasarela de pagos en línea para multas:</a:t>
            </a:r>
          </a:p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Integración con sistemas de pago como Webpay. </a:t>
            </a:r>
          </a:p>
          <a:p>
            <a:pPr marL="690879" lvl="1" indent="-345439" algn="just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Beneficio: automatiza la recaudación y el usuario paga sin ir a caja.</a:t>
            </a:r>
          </a:p>
          <a:p>
            <a:pPr algn="just">
              <a:lnSpc>
                <a:spcPts val="4479"/>
              </a:lnSpc>
            </a:pPr>
            <a:endParaRPr lang="en-US" sz="3199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9525" y="0"/>
            <a:ext cx="3356078" cy="1079722"/>
          </a:xfrm>
          <a:custGeom>
            <a:avLst/>
            <a:gdLst/>
            <a:ahLst/>
            <a:cxnLst/>
            <a:rect l="l" t="t" r="r" b="b"/>
            <a:pathLst>
              <a:path w="3356078" h="1079722">
                <a:moveTo>
                  <a:pt x="0" y="0"/>
                </a:moveTo>
                <a:lnTo>
                  <a:pt x="3356078" y="0"/>
                </a:lnTo>
                <a:lnTo>
                  <a:pt x="3356078" y="1079722"/>
                </a:lnTo>
                <a:lnTo>
                  <a:pt x="0" y="107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028700" y="4084550"/>
            <a:ext cx="16230600" cy="198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8400" spc="42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PROPUESTA DE PROYECTO</a:t>
            </a:r>
          </a:p>
          <a:p>
            <a:pPr algn="ctr">
              <a:lnSpc>
                <a:spcPts val="7560"/>
              </a:lnSpc>
            </a:pPr>
            <a:r>
              <a:rPr lang="en-US" sz="8400" spc="42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ESPECIFICACIÓN DE REQUISITOS DE SOFTWARE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00587" y="5966690"/>
            <a:ext cx="13686826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SISTEMA DE GESTIÓN Bibliotecaria UNILIB</a:t>
            </a:r>
          </a:p>
        </p:txBody>
      </p:sp>
    </p:spTree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775</Words>
  <Application>Microsoft Office PowerPoint</Application>
  <PresentationFormat>Personalizado</PresentationFormat>
  <Paragraphs>99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League Gothic</vt:lpstr>
      <vt:lpstr>Calibri</vt:lpstr>
      <vt:lpstr>Roboto Condensed Bold</vt:lpstr>
      <vt:lpstr>Arial</vt:lpstr>
      <vt:lpstr>Roboto Condensed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RQY1101_Plantilla_Presentación_N°12.pptx</dc:title>
  <cp:lastModifiedBy>BYRON JEREMY MONSALVE VERA</cp:lastModifiedBy>
  <cp:revision>2</cp:revision>
  <dcterms:created xsi:type="dcterms:W3CDTF">2006-08-16T00:00:00Z</dcterms:created>
  <dcterms:modified xsi:type="dcterms:W3CDTF">2026-04-16T23:48:20Z</dcterms:modified>
  <dc:identifier>DAHG4hn-7Wg</dc:identifier>
</cp:coreProperties>
</file>