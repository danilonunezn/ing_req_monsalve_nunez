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10287000" cx="18288000"/>
  <p:notesSz cx="6858000" cy="9144000"/>
  <p:embeddedFontLst>
    <p:embeddedFont>
      <p:font typeface="Roboto Condensed"/>
      <p:bold r:id="rId28"/>
      <p:boldItalic r:id="rId29"/>
    </p:embeddedFont>
    <p:embeddedFont>
      <p:font typeface="League Gothic"/>
      <p:regular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1" roundtripDataSignature="AMtx7midLAOhoNz3hPxtnKJq3XXBn5b09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83E181D-4D41-48CC-BE4F-43669A7A1445}">
  <a:tblStyle styleId="{183E181D-4D41-48CC-BE4F-43669A7A144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5A479ECB-F1A9-4CF8-8C2E-5632B1983DF7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fill>
          <a:solidFill>
            <a:srgbClr val="E6E6E6"/>
          </a:solidFill>
        </a:fill>
      </a:tcStyle>
    </a:band1H>
    <a:band2H>
      <a:tcTxStyle/>
    </a:band2H>
    <a:band1V>
      <a:tcTxStyle/>
      <a:tcStyle>
        <a:fill>
          <a:solidFill>
            <a:srgbClr val="E6E6E6"/>
          </a:solidFill>
        </a:fill>
      </a:tcStyle>
    </a:band1V>
    <a:band2V>
      <a:tcTxStyle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508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l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dk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RobotoCondensed-bold.fntdata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Condensed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customschemas.google.com/relationships/presentationmetadata" Target="metadata"/><Relationship Id="rId30" Type="http://schemas.openxmlformats.org/officeDocument/2006/relationships/font" Target="fonts/LeagueGothic-regular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2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2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2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3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Relationship Id="rId4" Type="http://schemas.openxmlformats.org/officeDocument/2006/relationships/image" Target="../media/image1.png"/><Relationship Id="rId5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Relationship Id="rId4" Type="http://schemas.openxmlformats.org/officeDocument/2006/relationships/image" Target="../media/image1.png"/><Relationship Id="rId5" Type="http://schemas.openxmlformats.org/officeDocument/2006/relationships/hyperlink" Target="https://unilib.cl/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jpg"/><Relationship Id="rId4" Type="http://schemas.openxmlformats.org/officeDocument/2006/relationships/image" Target="../media/image1.png"/><Relationship Id="rId9" Type="http://schemas.openxmlformats.org/officeDocument/2006/relationships/image" Target="../media/image13.png"/><Relationship Id="rId5" Type="http://schemas.openxmlformats.org/officeDocument/2006/relationships/image" Target="../media/image6.png"/><Relationship Id="rId6" Type="http://schemas.openxmlformats.org/officeDocument/2006/relationships/image" Target="../media/image11.png"/><Relationship Id="rId7" Type="http://schemas.openxmlformats.org/officeDocument/2006/relationships/image" Target="../media/image5.png"/><Relationship Id="rId8" Type="http://schemas.openxmlformats.org/officeDocument/2006/relationships/image" Target="../media/image2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jpg"/><Relationship Id="rId4" Type="http://schemas.openxmlformats.org/officeDocument/2006/relationships/image" Target="../media/image1.png"/><Relationship Id="rId5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jpg"/><Relationship Id="rId4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jpg"/><Relationship Id="rId4" Type="http://schemas.openxmlformats.org/officeDocument/2006/relationships/image" Target="../media/image1.png"/><Relationship Id="rId5" Type="http://schemas.openxmlformats.org/officeDocument/2006/relationships/image" Target="../media/image2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jpg"/><Relationship Id="rId4" Type="http://schemas.openxmlformats.org/officeDocument/2006/relationships/image" Target="../media/image1.png"/><Relationship Id="rId5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jpg"/><Relationship Id="rId4" Type="http://schemas.openxmlformats.org/officeDocument/2006/relationships/image" Target="../media/image1.png"/><Relationship Id="rId5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jpg"/><Relationship Id="rId4" Type="http://schemas.openxmlformats.org/officeDocument/2006/relationships/image" Target="../media/image1.png"/><Relationship Id="rId5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jpg"/><Relationship Id="rId4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jpg"/><Relationship Id="rId4" Type="http://schemas.openxmlformats.org/officeDocument/2006/relationships/image" Target="../media/image1.png"/><Relationship Id="rId5" Type="http://schemas.openxmlformats.org/officeDocument/2006/relationships/image" Target="../media/image17.png"/><Relationship Id="rId6" Type="http://schemas.openxmlformats.org/officeDocument/2006/relationships/image" Target="../media/image12.png"/><Relationship Id="rId7" Type="http://schemas.openxmlformats.org/officeDocument/2006/relationships/image" Target="../media/image14.png"/><Relationship Id="rId8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jpg"/><Relationship Id="rId4" Type="http://schemas.openxmlformats.org/officeDocument/2006/relationships/image" Target="../media/image1.png"/><Relationship Id="rId5" Type="http://schemas.openxmlformats.org/officeDocument/2006/relationships/hyperlink" Target="http://drive.google.com/file/d/1Io23lb56WiZvUDytBG7JJLgY6UUc56RX/view" TargetMode="External"/><Relationship Id="rId6" Type="http://schemas.openxmlformats.org/officeDocument/2006/relationships/image" Target="../media/image23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jpg"/><Relationship Id="rId4" Type="http://schemas.openxmlformats.org/officeDocument/2006/relationships/image" Target="../media/image1.png"/><Relationship Id="rId5" Type="http://schemas.openxmlformats.org/officeDocument/2006/relationships/image" Target="../media/image20.png"/><Relationship Id="rId6" Type="http://schemas.openxmlformats.org/officeDocument/2006/relationships/image" Target="../media/image1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jpg"/><Relationship Id="rId4" Type="http://schemas.openxmlformats.org/officeDocument/2006/relationships/image" Target="../media/image1.png"/><Relationship Id="rId5" Type="http://schemas.openxmlformats.org/officeDocument/2006/relationships/image" Target="../media/image18.png"/><Relationship Id="rId6" Type="http://schemas.openxmlformats.org/officeDocument/2006/relationships/image" Target="../media/image1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jp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02020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9999"/>
            </a:blip>
            <a:stretch>
              <a:fillRect b="-9313" l="0" r="0" t="-931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9525" y="0"/>
            <a:ext cx="3356078" cy="1079722"/>
          </a:xfrm>
          <a:custGeom>
            <a:rect b="b" l="l" r="r" t="t"/>
            <a:pathLst>
              <a:path extrusionOk="0" h="1079722" w="3356078">
                <a:moveTo>
                  <a:pt x="0" y="0"/>
                </a:moveTo>
                <a:lnTo>
                  <a:pt x="3356078" y="0"/>
                </a:lnTo>
                <a:lnTo>
                  <a:pt x="3356078" y="1079722"/>
                </a:lnTo>
                <a:lnTo>
                  <a:pt x="0" y="10797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1028700" y="3492791"/>
            <a:ext cx="16230600" cy="23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400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PROPUESTA DE PROYECTO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400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ESPECIFICACIÓN DE REQUISITOS DE SOFTWARE</a:t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1028700" y="5771833"/>
            <a:ext cx="13686826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Sistema de Gestión Bibliotecaria UNILIB</a:t>
            </a:r>
            <a:endParaRPr/>
          </a:p>
        </p:txBody>
      </p:sp>
      <p:sp>
        <p:nvSpPr>
          <p:cNvPr id="92" name="Google Shape;92;p1"/>
          <p:cNvSpPr txBox="1"/>
          <p:nvPr/>
        </p:nvSpPr>
        <p:spPr>
          <a:xfrm>
            <a:off x="6835464" y="7922175"/>
            <a:ext cx="2115575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9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Integrantes:</a:t>
            </a:r>
            <a:endParaRPr/>
          </a:p>
        </p:txBody>
      </p:sp>
      <p:sp>
        <p:nvSpPr>
          <p:cNvPr id="93" name="Google Shape;93;p1"/>
          <p:cNvSpPr txBox="1"/>
          <p:nvPr/>
        </p:nvSpPr>
        <p:spPr>
          <a:xfrm>
            <a:off x="8643009" y="7888267"/>
            <a:ext cx="3187108" cy="941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9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Byron Monsalve</a:t>
            </a:r>
            <a:endParaRPr/>
          </a:p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9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Danilo Nuñez</a:t>
            </a:r>
            <a:endParaRPr/>
          </a:p>
        </p:txBody>
      </p:sp>
      <p:sp>
        <p:nvSpPr>
          <p:cNvPr id="94" name="Google Shape;94;p1"/>
          <p:cNvSpPr txBox="1"/>
          <p:nvPr/>
        </p:nvSpPr>
        <p:spPr>
          <a:xfrm>
            <a:off x="1028700" y="7922175"/>
            <a:ext cx="5528164" cy="1336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2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Sección:</a:t>
            </a:r>
            <a:r>
              <a:rPr lang="en-US" sz="252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RQY1102</a:t>
            </a:r>
            <a:endParaRPr/>
          </a:p>
          <a:p>
            <a:pPr indent="0" lvl="0" marL="0" marR="0" rtl="0" algn="l">
              <a:lnSpc>
                <a:spcPct val="140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2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Docente:</a:t>
            </a:r>
            <a:r>
              <a:rPr lang="en-US" sz="252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Mallen Gonzalez</a:t>
            </a:r>
            <a:endParaRPr/>
          </a:p>
          <a:p>
            <a:pPr indent="0" lvl="0" marL="0" marR="0" rtl="0" algn="l">
              <a:lnSpc>
                <a:spcPct val="140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2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Grupo Nº:</a:t>
            </a:r>
            <a:r>
              <a:rPr lang="en-US" sz="252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4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02020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000"/>
            </a:blip>
            <a:stretch>
              <a:fillRect b="-9313" l="0" r="0" t="-931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/>
          <p:nvPr/>
        </p:nvSpPr>
        <p:spPr>
          <a:xfrm>
            <a:off x="0" y="0"/>
            <a:ext cx="3356078" cy="1079722"/>
          </a:xfrm>
          <a:custGeom>
            <a:rect b="b" l="l" r="r" t="t"/>
            <a:pathLst>
              <a:path extrusionOk="0" h="1079722" w="3356078">
                <a:moveTo>
                  <a:pt x="0" y="0"/>
                </a:moveTo>
                <a:lnTo>
                  <a:pt x="3356078" y="0"/>
                </a:lnTo>
                <a:lnTo>
                  <a:pt x="3356078" y="1079722"/>
                </a:lnTo>
                <a:lnTo>
                  <a:pt x="0" y="10797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 txBox="1"/>
          <p:nvPr/>
        </p:nvSpPr>
        <p:spPr>
          <a:xfrm>
            <a:off x="1715325" y="3183076"/>
            <a:ext cx="14857200" cy="59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4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Nombre del sistema: </a:t>
            </a:r>
            <a:r>
              <a:rPr lang="en-US" sz="4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Sistema de Gestión Bibliotecaria UNILIB</a:t>
            </a:r>
            <a:endParaRPr/>
          </a:p>
          <a:p>
            <a:pPr indent="0" lvl="0" marL="0" marR="0" rtl="0" algn="l">
              <a:lnSpc>
                <a:spcPct val="88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0" lvl="0" marL="0" marR="0" rtl="0" algn="l">
              <a:lnSpc>
                <a:spcPct val="88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Problema actual: </a:t>
            </a:r>
            <a:r>
              <a:rPr lang="en-US" sz="4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Biblioteca con procesos lentos, libros perdidos, filas largas, registros en papel.</a:t>
            </a:r>
            <a:endParaRPr sz="4000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0" lvl="0" marL="0" marR="0" rtl="0" algn="l">
              <a:lnSpc>
                <a:spcPct val="88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0" lvl="0" marL="0" marR="0" rtl="0" algn="l">
              <a:lnSpc>
                <a:spcPct val="88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Obejetivo del sistema</a:t>
            </a:r>
            <a:r>
              <a:rPr b="1" lang="en-US" sz="4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: </a:t>
            </a:r>
            <a:r>
              <a:rPr lang="en-US" sz="4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Automatizar los p</a:t>
            </a:r>
            <a:r>
              <a:rPr lang="en-US" sz="4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réstamos, devoluciones, catálogo en línea, notificaciones, reportes</a:t>
            </a:r>
            <a:r>
              <a:rPr lang="en-US" sz="4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 Esto ayudará </a:t>
            </a:r>
            <a:r>
              <a:rPr lang="en-US" sz="4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reduciendo tiempos de atención y mejorando el control del inventario.</a:t>
            </a:r>
            <a:endParaRPr sz="4000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0" lvl="0" marL="0" marR="0" rtl="0" algn="l">
              <a:lnSpc>
                <a:spcPct val="1244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0" lvl="0" marL="0" marR="0" rtl="0" algn="l">
              <a:lnSpc>
                <a:spcPct val="88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Beneficios: </a:t>
            </a:r>
            <a:r>
              <a:rPr lang="en-US" sz="4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Eficiencia operativa, control de inventario, disponibilidad 24/7</a:t>
            </a:r>
            <a:endParaRPr/>
          </a:p>
        </p:txBody>
      </p:sp>
      <p:sp>
        <p:nvSpPr>
          <p:cNvPr id="102" name="Google Shape;102;p2"/>
          <p:cNvSpPr txBox="1"/>
          <p:nvPr/>
        </p:nvSpPr>
        <p:spPr>
          <a:xfrm>
            <a:off x="2973184" y="866775"/>
            <a:ext cx="123417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DESCRIPCIÓN</a:t>
            </a:r>
            <a:r>
              <a:rPr lang="en-US" sz="8000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 DEL PROYECTO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02020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000"/>
            </a:blip>
            <a:stretch>
              <a:fillRect b="-9313" l="0" r="0" t="-931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0" y="0"/>
            <a:ext cx="3356078" cy="1079722"/>
          </a:xfrm>
          <a:custGeom>
            <a:rect b="b" l="l" r="r" t="t"/>
            <a:pathLst>
              <a:path extrusionOk="0" h="1079722" w="3356078">
                <a:moveTo>
                  <a:pt x="0" y="0"/>
                </a:moveTo>
                <a:lnTo>
                  <a:pt x="3356078" y="0"/>
                </a:lnTo>
                <a:lnTo>
                  <a:pt x="3356078" y="1079722"/>
                </a:lnTo>
                <a:lnTo>
                  <a:pt x="0" y="10797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2464097" y="1477631"/>
            <a:ext cx="13359806" cy="7331737"/>
          </a:xfrm>
          <a:custGeom>
            <a:rect b="b" l="l" r="r" t="t"/>
            <a:pathLst>
              <a:path extrusionOk="0" h="7043475" w="10565213">
                <a:moveTo>
                  <a:pt x="0" y="0"/>
                </a:moveTo>
                <a:lnTo>
                  <a:pt x="10565212" y="0"/>
                </a:lnTo>
                <a:lnTo>
                  <a:pt x="10565212" y="7043476"/>
                </a:lnTo>
                <a:lnTo>
                  <a:pt x="0" y="70434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26245" l="0" r="0" t="-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9228074" y="6585862"/>
            <a:ext cx="3228310" cy="1663496"/>
          </a:xfrm>
          <a:custGeom>
            <a:rect b="b" l="l" r="r" t="t"/>
            <a:pathLst>
              <a:path extrusionOk="0" h="1663496" w="3228310">
                <a:moveTo>
                  <a:pt x="0" y="0"/>
                </a:moveTo>
                <a:lnTo>
                  <a:pt x="3228310" y="0"/>
                </a:lnTo>
                <a:lnTo>
                  <a:pt x="3228310" y="1663496"/>
                </a:lnTo>
                <a:lnTo>
                  <a:pt x="0" y="16634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227268" r="0" t="-32340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1" name="Google Shape;111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55279" y="6438900"/>
            <a:ext cx="2916939" cy="195742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3"/>
          <p:cNvSpPr/>
          <p:nvPr/>
        </p:nvSpPr>
        <p:spPr>
          <a:xfrm>
            <a:off x="6100418" y="8180567"/>
            <a:ext cx="2971800" cy="601824"/>
          </a:xfrm>
          <a:custGeom>
            <a:rect b="b" l="l" r="r" t="t"/>
            <a:pathLst>
              <a:path extrusionOk="0" h="1663496" w="3228310">
                <a:moveTo>
                  <a:pt x="0" y="0"/>
                </a:moveTo>
                <a:lnTo>
                  <a:pt x="3228310" y="0"/>
                </a:lnTo>
                <a:lnTo>
                  <a:pt x="3228310" y="1663496"/>
                </a:lnTo>
                <a:lnTo>
                  <a:pt x="0" y="16634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227268" r="0" t="-32340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push dir="r"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02020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000"/>
            </a:blip>
            <a:stretch>
              <a:fillRect b="-9313" l="0" r="0" t="-931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0" y="0"/>
            <a:ext cx="3356078" cy="1079722"/>
          </a:xfrm>
          <a:custGeom>
            <a:rect b="b" l="l" r="r" t="t"/>
            <a:pathLst>
              <a:path extrusionOk="0" h="1079722" w="3356078">
                <a:moveTo>
                  <a:pt x="0" y="0"/>
                </a:moveTo>
                <a:lnTo>
                  <a:pt x="3356078" y="0"/>
                </a:lnTo>
                <a:lnTo>
                  <a:pt x="3356078" y="1079722"/>
                </a:lnTo>
                <a:lnTo>
                  <a:pt x="0" y="10797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 txBox="1"/>
          <p:nvPr/>
        </p:nvSpPr>
        <p:spPr>
          <a:xfrm>
            <a:off x="4549619" y="866775"/>
            <a:ext cx="9188761" cy="1377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METODOLOGIA</a:t>
            </a:r>
            <a:endParaRPr/>
          </a:p>
        </p:txBody>
      </p:sp>
      <p:sp>
        <p:nvSpPr>
          <p:cNvPr id="120" name="Google Shape;120;p4"/>
          <p:cNvSpPr txBox="1"/>
          <p:nvPr/>
        </p:nvSpPr>
        <p:spPr>
          <a:xfrm>
            <a:off x="1585765" y="2328494"/>
            <a:ext cx="15145200" cy="10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7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9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El proyecto UNILIB utilizo la metodología</a:t>
            </a:r>
            <a:r>
              <a:rPr b="1" lang="en-US" sz="329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RUP</a:t>
            </a:r>
            <a:r>
              <a:rPr lang="en-US" sz="329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 basada en un desarrollo iterativo e incremental, centrado en la arquitectura y guiado por casos de uso.</a:t>
            </a:r>
            <a:endParaRPr/>
          </a:p>
        </p:txBody>
      </p:sp>
      <p:sp>
        <p:nvSpPr>
          <p:cNvPr id="121" name="Google Shape;121;p4"/>
          <p:cNvSpPr txBox="1"/>
          <p:nvPr/>
        </p:nvSpPr>
        <p:spPr>
          <a:xfrm>
            <a:off x="355378" y="4179150"/>
            <a:ext cx="7944900" cy="60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Características aplicadas en UNILIB</a:t>
            </a:r>
            <a:endParaRPr sz="1000"/>
          </a:p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-330837" lvl="1" marL="712473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Char char="•"/>
            </a:pPr>
            <a:r>
              <a:rPr b="0" i="0" lang="en-US" sz="29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Desarrollo guiado por casos de uso y requerimientos funcionales.</a:t>
            </a:r>
            <a:endParaRPr sz="1000"/>
          </a:p>
          <a:p>
            <a:pPr indent="0" lvl="1" marL="356236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900" u="none" cap="none" strike="noStrike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-330837" lvl="1" marL="712473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Char char="•"/>
            </a:pPr>
            <a:r>
              <a:rPr b="0" i="0" lang="en-US" sz="29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Arquitectura basada en UML y modelo 4+1 vistas.</a:t>
            </a:r>
            <a:endParaRPr sz="1000"/>
          </a:p>
          <a:p>
            <a:pPr indent="0" lvl="1" marL="356236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900" u="none" cap="none" strike="noStrike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-330837" lvl="1" marL="712473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Char char="•"/>
            </a:pPr>
            <a:r>
              <a:rPr b="0" i="0" lang="en-US" sz="29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Iteraciones cortas de 2 a 3 semanas con entregas parciales.</a:t>
            </a:r>
            <a:endParaRPr sz="1000"/>
          </a:p>
          <a:p>
            <a:pPr indent="0" lvl="1" marL="356236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900" u="none" cap="none" strike="noStrike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-330837" lvl="1" marL="712473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Char char="•"/>
            </a:pPr>
            <a:r>
              <a:rPr b="0" i="0" lang="en-US" sz="29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Validación continua mediante prototipos y pruebas.</a:t>
            </a:r>
            <a:endParaRPr sz="1000"/>
          </a:p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22" name="Google Shape;122;p4"/>
          <p:cNvSpPr txBox="1"/>
          <p:nvPr/>
        </p:nvSpPr>
        <p:spPr>
          <a:xfrm>
            <a:off x="9449309" y="4231500"/>
            <a:ext cx="8136600" cy="53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Fases del Proyecto</a:t>
            </a:r>
            <a:endParaRPr sz="1200"/>
          </a:p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00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Inicio: </a:t>
            </a:r>
            <a:r>
              <a:rPr lang="en-US" sz="31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Definición del alcance, riesgos y viabilidad.</a:t>
            </a:r>
            <a:endParaRPr sz="1200"/>
          </a:p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00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Elaboración: </a:t>
            </a:r>
            <a:r>
              <a:rPr lang="en-US" sz="31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Diseño de arquitectura y prototipos.</a:t>
            </a:r>
            <a:endParaRPr sz="1200"/>
          </a:p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00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Construcción: </a:t>
            </a:r>
            <a:r>
              <a:rPr lang="en-US" sz="31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Desarrollo incremental del sistema.</a:t>
            </a:r>
            <a:endParaRPr sz="1200"/>
          </a:p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00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Transición: </a:t>
            </a:r>
            <a:r>
              <a:rPr lang="en-US" sz="31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Entrega final, capacitación y soporte.</a:t>
            </a:r>
            <a:endParaRPr sz="1200"/>
          </a:p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00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0" lvl="0" marL="0" marR="0" rtl="0" algn="l">
              <a:lnSpc>
                <a:spcPct val="122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6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Duración estimada total: 12 semanas (60 días hábiles).</a:t>
            </a:r>
            <a:endParaRPr i="1" sz="2600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  <p:transition spd="slow">
    <p:push dir="r"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02020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"/>
          <p:cNvSpPr/>
          <p:nvPr/>
        </p:nvSpPr>
        <p:spPr>
          <a:xfrm>
            <a:off x="3810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000"/>
            </a:blip>
            <a:stretch>
              <a:fillRect b="-9313" l="0" r="0" t="-931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0" y="0"/>
            <a:ext cx="3356078" cy="1079722"/>
          </a:xfrm>
          <a:custGeom>
            <a:rect b="b" l="l" r="r" t="t"/>
            <a:pathLst>
              <a:path extrusionOk="0" h="1079722" w="3356078">
                <a:moveTo>
                  <a:pt x="0" y="0"/>
                </a:moveTo>
                <a:lnTo>
                  <a:pt x="3356078" y="0"/>
                </a:lnTo>
                <a:lnTo>
                  <a:pt x="3356078" y="1079722"/>
                </a:lnTo>
                <a:lnTo>
                  <a:pt x="0" y="10797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3239102" y="2943722"/>
            <a:ext cx="11301259" cy="6314578"/>
          </a:xfrm>
          <a:custGeom>
            <a:rect b="b" l="l" r="r" t="t"/>
            <a:pathLst>
              <a:path extrusionOk="0" h="6314578" w="11301259">
                <a:moveTo>
                  <a:pt x="0" y="0"/>
                </a:moveTo>
                <a:lnTo>
                  <a:pt x="11301259" y="0"/>
                </a:lnTo>
                <a:lnTo>
                  <a:pt x="11301259" y="6314578"/>
                </a:lnTo>
                <a:lnTo>
                  <a:pt x="0" y="63145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 txBox="1"/>
          <p:nvPr/>
        </p:nvSpPr>
        <p:spPr>
          <a:xfrm>
            <a:off x="4549619" y="866775"/>
            <a:ext cx="9188761" cy="1377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EQUIPO DE TRABAJO</a:t>
            </a:r>
            <a:endParaRPr/>
          </a:p>
        </p:txBody>
      </p:sp>
    </p:spTree>
  </p:cSld>
  <p:clrMapOvr>
    <a:masterClrMapping/>
  </p:clrMapOvr>
  <p:transition spd="slow">
    <p:push dir="r"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02020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000"/>
            </a:blip>
            <a:stretch>
              <a:fillRect b="-9313" l="0" r="0" t="-931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0" y="0"/>
            <a:ext cx="3356078" cy="1079722"/>
          </a:xfrm>
          <a:custGeom>
            <a:rect b="b" l="l" r="r" t="t"/>
            <a:pathLst>
              <a:path extrusionOk="0" h="1079722" w="3356078">
                <a:moveTo>
                  <a:pt x="0" y="0"/>
                </a:moveTo>
                <a:lnTo>
                  <a:pt x="3356078" y="0"/>
                </a:lnTo>
                <a:lnTo>
                  <a:pt x="3356078" y="1079722"/>
                </a:lnTo>
                <a:lnTo>
                  <a:pt x="0" y="10797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 txBox="1"/>
          <p:nvPr/>
        </p:nvSpPr>
        <p:spPr>
          <a:xfrm>
            <a:off x="5576112" y="866775"/>
            <a:ext cx="7135777" cy="1377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REQUISITOS FUNCIONALES</a:t>
            </a:r>
            <a:endParaRPr/>
          </a:p>
        </p:txBody>
      </p:sp>
      <p:graphicFrame>
        <p:nvGraphicFramePr>
          <p:cNvPr id="138" name="Google Shape;138;p6"/>
          <p:cNvGraphicFramePr/>
          <p:nvPr/>
        </p:nvGraphicFramePr>
        <p:xfrm>
          <a:off x="1447800" y="255269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{183E181D-4D41-48CC-BE4F-43669A7A1445}</a:tableStyleId>
              </a:tblPr>
              <a:tblGrid>
                <a:gridCol w="2667000"/>
                <a:gridCol w="1828800"/>
                <a:gridCol w="3048000"/>
                <a:gridCol w="7924800"/>
              </a:tblGrid>
              <a:tr h="609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b="1" lang="en-US" sz="2000" u="none" cap="none" strike="noStrike"/>
                        <a:t>Módulo</a:t>
                      </a:r>
                      <a:endParaRPr/>
                    </a:p>
                  </a:txBody>
                  <a:tcPr marT="20350" marB="20350" marR="40700" marL="40700" anchor="ctr">
                    <a:lnL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b="1" lang="en-US" sz="2000" u="none" cap="none" strike="noStrike"/>
                        <a:t>RF</a:t>
                      </a:r>
                      <a:endParaRPr/>
                    </a:p>
                  </a:txBody>
                  <a:tcPr marT="20350" marB="20350" marR="40700" marL="40700" anchor="ctr">
                    <a:lnL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b="1" lang="en-US" sz="2000" u="none" cap="none" strike="noStrike"/>
                        <a:t>Funcionalidad</a:t>
                      </a:r>
                      <a:endParaRPr/>
                    </a:p>
                  </a:txBody>
                  <a:tcPr marT="20350" marB="20350" marR="40700" marL="40700" anchor="ctr">
                    <a:lnL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b="1" lang="en-US" sz="2000" u="none" cap="none" strike="noStrike"/>
                        <a:t>Resumen</a:t>
                      </a:r>
                      <a:endParaRPr/>
                    </a:p>
                  </a:txBody>
                  <a:tcPr marT="20350" marB="20350" marR="40700" marL="40700" anchor="ctr">
                    <a:lnL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964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/>
                        <a:t>Gestión de Usuarios</a:t>
                      </a:r>
                      <a:endParaRPr/>
                    </a:p>
                  </a:txBody>
                  <a:tcPr marT="20350" marB="20350" marR="40700" marL="40700" anchor="ctr">
                    <a:lnL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/>
                        <a:t>RF01 – RF02</a:t>
                      </a:r>
                      <a:endParaRPr/>
                    </a:p>
                  </a:txBody>
                  <a:tcPr marT="20350" marB="20350" marR="40700" marL="40700" anchor="ctr">
                    <a:lnL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/>
                        <a:t>Gestión y autenticación de usuarios</a:t>
                      </a:r>
                      <a:endParaRPr/>
                    </a:p>
                  </a:txBody>
                  <a:tcPr marT="20350" marB="20350" marR="40700" marL="40700" anchor="ctr">
                    <a:lnL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/>
                        <a:t>Permite administrar perfiles y validar accesos seguros según el tipo de usuario.</a:t>
                      </a:r>
                      <a:endParaRPr/>
                    </a:p>
                  </a:txBody>
                  <a:tcPr marT="20350" marB="20350" marR="40700" marL="40700" anchor="ctr">
                    <a:lnL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507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/>
                        <a:t>Inventario y Catálogo</a:t>
                      </a:r>
                      <a:endParaRPr/>
                    </a:p>
                  </a:txBody>
                  <a:tcPr marT="20350" marB="20350" marR="40700" marL="40700" anchor="ctr">
                    <a:lnL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/>
                        <a:t>RF03 – RF07</a:t>
                      </a:r>
                      <a:endParaRPr/>
                    </a:p>
                  </a:txBody>
                  <a:tcPr marT="20350" marB="20350" marR="40700" marL="40700" anchor="ctr">
                    <a:lnL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/>
                        <a:t>Gestión de libros y catálogo</a:t>
                      </a:r>
                      <a:endParaRPr/>
                    </a:p>
                  </a:txBody>
                  <a:tcPr marT="20350" marB="20350" marR="40700" marL="40700" anchor="ctr">
                    <a:lnL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/>
                        <a:t>Registro, actualización, búsqueda y consulta de disponibilidad y ubicación de materiales bibliográficos.</a:t>
                      </a:r>
                      <a:endParaRPr/>
                    </a:p>
                  </a:txBody>
                  <a:tcPr marT="20350" marB="20350" marR="40700" marL="40700" anchor="ctr">
                    <a:lnL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507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/>
                        <a:t>Transacciones</a:t>
                      </a:r>
                      <a:endParaRPr/>
                    </a:p>
                  </a:txBody>
                  <a:tcPr marT="20350" marB="20350" marR="40700" marL="40700" anchor="ctr">
                    <a:lnL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/>
                        <a:t>RF08 – RF12</a:t>
                      </a:r>
                      <a:endParaRPr/>
                    </a:p>
                  </a:txBody>
                  <a:tcPr marT="20350" marB="20350" marR="40700" marL="40700" anchor="ctr">
                    <a:lnL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/>
                        <a:t>Préstamos, devoluciones y reservas</a:t>
                      </a:r>
                      <a:endParaRPr/>
                    </a:p>
                  </a:txBody>
                  <a:tcPr marT="20350" marB="20350" marR="40700" marL="40700" anchor="ctr">
                    <a:lnL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/>
                        <a:t>Control de préstamos y devoluciones, reservas online, notificaciones automáticas e historial de transacciones.</a:t>
                      </a:r>
                      <a:endParaRPr/>
                    </a:p>
                  </a:txBody>
                  <a:tcPr marT="20350" marB="20350" marR="40700" marL="40700" anchor="ctr">
                    <a:lnL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26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/>
                        <a:t>Reportes y Estadísticas</a:t>
                      </a:r>
                      <a:endParaRPr/>
                    </a:p>
                  </a:txBody>
                  <a:tcPr marT="20350" marB="20350" marR="40700" marL="40700" anchor="ctr">
                    <a:lnL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/>
                        <a:t>RF13 – RF14</a:t>
                      </a:r>
                      <a:endParaRPr/>
                    </a:p>
                  </a:txBody>
                  <a:tcPr marT="20350" marB="20350" marR="40700" marL="40700" anchor="ctr">
                    <a:lnL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/>
                        <a:t>Informes y estadísticas</a:t>
                      </a:r>
                      <a:endParaRPr/>
                    </a:p>
                  </a:txBody>
                  <a:tcPr marT="20350" marB="20350" marR="40700" marL="40700" anchor="ctr">
                    <a:lnL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/>
                        <a:t>Generación de reportes sobre libros más utilizados, préstamos y usuarios frecuentes.</a:t>
                      </a:r>
                      <a:endParaRPr/>
                    </a:p>
                  </a:txBody>
                  <a:tcPr marT="20350" marB="20350" marR="40700" marL="40700" anchor="ctr">
                    <a:lnL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964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/>
                        <a:t>Validación y Seguridad</a:t>
                      </a:r>
                      <a:endParaRPr/>
                    </a:p>
                  </a:txBody>
                  <a:tcPr marT="20350" marB="20350" marR="40700" marL="40700" anchor="ctr">
                    <a:lnL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/>
                        <a:t>RF15</a:t>
                      </a:r>
                      <a:endParaRPr/>
                    </a:p>
                  </a:txBody>
                  <a:tcPr marT="20350" marB="20350" marR="40700" marL="40700" anchor="ctr">
                    <a:lnL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/>
                        <a:t>Validación de datos</a:t>
                      </a:r>
                      <a:endParaRPr/>
                    </a:p>
                  </a:txBody>
                  <a:tcPr marT="20350" marB="20350" marR="40700" marL="40700" anchor="ctr">
                    <a:lnL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/>
                        <a:t>Verifica la integridad y validez de los datos ingresados al sistema.</a:t>
                      </a:r>
                      <a:endParaRPr/>
                    </a:p>
                  </a:txBody>
                  <a:tcPr marT="20350" marB="20350" marR="40700" marL="40700" anchor="ctr">
                    <a:lnL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 dir="r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02020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000"/>
            </a:blip>
            <a:stretch>
              <a:fillRect b="-9313" l="0" r="0" t="-931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0" y="0"/>
            <a:ext cx="3356078" cy="1079722"/>
          </a:xfrm>
          <a:custGeom>
            <a:rect b="b" l="l" r="r" t="t"/>
            <a:pathLst>
              <a:path extrusionOk="0" h="1079722" w="3356078">
                <a:moveTo>
                  <a:pt x="0" y="0"/>
                </a:moveTo>
                <a:lnTo>
                  <a:pt x="3356078" y="0"/>
                </a:lnTo>
                <a:lnTo>
                  <a:pt x="3356078" y="1079722"/>
                </a:lnTo>
                <a:lnTo>
                  <a:pt x="0" y="10797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 txBox="1"/>
          <p:nvPr/>
        </p:nvSpPr>
        <p:spPr>
          <a:xfrm>
            <a:off x="4549619" y="866775"/>
            <a:ext cx="9188761" cy="1377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REQUISITOS NO FUNCIONALES</a:t>
            </a:r>
            <a:endParaRPr/>
          </a:p>
        </p:txBody>
      </p:sp>
      <p:graphicFrame>
        <p:nvGraphicFramePr>
          <p:cNvPr id="146" name="Google Shape;146;p7"/>
          <p:cNvGraphicFramePr/>
          <p:nvPr/>
        </p:nvGraphicFramePr>
        <p:xfrm>
          <a:off x="3505200" y="318531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{183E181D-4D41-48CC-BE4F-43669A7A1445}</a:tableStyleId>
              </a:tblPr>
              <a:tblGrid>
                <a:gridCol w="2514600"/>
                <a:gridCol w="8610600"/>
              </a:tblGrid>
              <a:tr h="639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b="1" lang="en-US" sz="2000" u="none" cap="none" strike="noStrike"/>
                        <a:t>Elemento</a:t>
                      </a:r>
                      <a:endParaRPr/>
                    </a:p>
                  </a:txBody>
                  <a:tcPr marT="33600" marB="33600" marR="67225" marL="672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b="1" lang="en-US" sz="2000" u="none" cap="none" strike="noStrike"/>
                        <a:t>Contenido (tomado de tu informe Sección 3.3 y 3.4)</a:t>
                      </a:r>
                      <a:endParaRPr/>
                    </a:p>
                  </a:txBody>
                  <a:tcPr marT="33600" marB="33600" marR="67225" marL="672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502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/>
                        <a:t>RNF-01</a:t>
                      </a:r>
                      <a:endParaRPr/>
                    </a:p>
                  </a:txBody>
                  <a:tcPr marT="33600" marB="33600" marR="67225" marL="672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/>
                        <a:t>Rendimiento (respuesta &lt; 3 segundos)</a:t>
                      </a:r>
                      <a:endParaRPr/>
                    </a:p>
                  </a:txBody>
                  <a:tcPr marT="33600" marB="33600" marR="67225" marL="672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2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/>
                        <a:t>RNF-02</a:t>
                      </a:r>
                      <a:endParaRPr/>
                    </a:p>
                  </a:txBody>
                  <a:tcPr marT="33600" marB="33600" marR="67225" marL="672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/>
                        <a:t>Seguridad (control por roles)</a:t>
                      </a:r>
                      <a:endParaRPr/>
                    </a:p>
                  </a:txBody>
                  <a:tcPr marT="33600" marB="33600" marR="67225" marL="672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2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/>
                        <a:t>RNF-03</a:t>
                      </a:r>
                      <a:endParaRPr/>
                    </a:p>
                  </a:txBody>
                  <a:tcPr marT="33600" marB="33600" marR="67225" marL="672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/>
                        <a:t>Fiabilidad (integridad de datos)</a:t>
                      </a:r>
                      <a:endParaRPr/>
                    </a:p>
                  </a:txBody>
                  <a:tcPr marT="33600" marB="33600" marR="67225" marL="672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2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/>
                        <a:t>RNF-04</a:t>
                      </a:r>
                      <a:endParaRPr/>
                    </a:p>
                  </a:txBody>
                  <a:tcPr marT="33600" marB="33600" marR="67225" marL="672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/>
                        <a:t>Disponibilidad (acceso continuo)</a:t>
                      </a:r>
                      <a:endParaRPr/>
                    </a:p>
                  </a:txBody>
                  <a:tcPr marT="33600" marB="33600" marR="67225" marL="672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2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/>
                        <a:t>RNF-05</a:t>
                      </a:r>
                      <a:endParaRPr/>
                    </a:p>
                  </a:txBody>
                  <a:tcPr marT="33600" marB="33600" marR="67225" marL="672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/>
                        <a:t>Mantenibilidad (modificaciones básicas)</a:t>
                      </a:r>
                      <a:endParaRPr/>
                    </a:p>
                  </a:txBody>
                  <a:tcPr marT="33600" marB="33600" marR="67225" marL="672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39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/>
                        <a:t>RNF-06</a:t>
                      </a:r>
                      <a:endParaRPr/>
                    </a:p>
                  </a:txBody>
                  <a:tcPr marT="33600" marB="33600" marR="67225" marL="672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/>
                        <a:t>Portabilidad (navegadores Chrome, Edge, Firefox)</a:t>
                      </a:r>
                      <a:endParaRPr/>
                    </a:p>
                  </a:txBody>
                  <a:tcPr marT="33600" marB="33600" marR="67225" marL="672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2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/>
                        <a:t>RNF-07</a:t>
                      </a:r>
                      <a:endParaRPr/>
                    </a:p>
                  </a:txBody>
                  <a:tcPr marT="33600" marB="33600" marR="67225" marL="672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/>
                        <a:t>Usabilidad (interfaz intuitiva)</a:t>
                      </a:r>
                      <a:endParaRPr/>
                    </a:p>
                  </a:txBody>
                  <a:tcPr marT="33600" marB="33600" marR="67225" marL="672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2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/>
                        <a:t>RNF-08</a:t>
                      </a:r>
                      <a:endParaRPr/>
                    </a:p>
                  </a:txBody>
                  <a:tcPr marT="33600" marB="33600" marR="67225" marL="672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/>
                        <a:t>Diseño Responsivo (adaptación a móvil)</a:t>
                      </a:r>
                      <a:endParaRPr/>
                    </a:p>
                  </a:txBody>
                  <a:tcPr marT="33600" marB="33600" marR="67225" marL="672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39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/>
                        <a:t>RNF-09</a:t>
                      </a:r>
                      <a:endParaRPr/>
                    </a:p>
                  </a:txBody>
                  <a:tcPr marT="33600" marB="33600" marR="67225" marL="672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/>
                        <a:t>Consistencia Visual (mismos colores, fuentes)</a:t>
                      </a:r>
                      <a:endParaRPr/>
                    </a:p>
                  </a:txBody>
                  <a:tcPr marT="33600" marB="33600" marR="67225" marL="672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153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/>
                        <a:t>RNF-10</a:t>
                      </a:r>
                      <a:endParaRPr/>
                    </a:p>
                  </a:txBody>
                  <a:tcPr marT="33600" marB="33600" marR="67225" marL="672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</a:rPr>
                        <a:t>Validación de Datos (campos obligatorios, formato RUT, email @</a:t>
                      </a:r>
                      <a:r>
                        <a:rPr b="0" i="0" lang="en-US" sz="2000" u="sng" cap="none" strike="noStrike">
                          <a:solidFill>
                            <a:srgbClr val="3964FE"/>
                          </a:solidFill>
                          <a:hlinkClick r:id="rId5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unilib.cl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</a:rPr>
                        <a:t>)</a:t>
                      </a:r>
                      <a:endParaRPr sz="2000" u="none" cap="none" strike="noStrike"/>
                    </a:p>
                  </a:txBody>
                  <a:tcPr marT="33600" marB="33600" marR="67225" marL="672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7" name="Google Shape;147;p7"/>
          <p:cNvSpPr txBox="1"/>
          <p:nvPr/>
        </p:nvSpPr>
        <p:spPr>
          <a:xfrm>
            <a:off x="1563084" y="2324100"/>
            <a:ext cx="15009432" cy="4488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7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9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Estos requisitos garantizan rendimiento, seguridad, disponibilidad y facilidad de uso.</a:t>
            </a:r>
            <a:endParaRPr sz="3299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  <p:transition spd="slow">
    <p:push dir="r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02020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8"/>
          <p:cNvSpPr/>
          <p:nvPr/>
        </p:nvSpPr>
        <p:spPr>
          <a:xfrm>
            <a:off x="0" y="-18047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31000"/>
            </a:blip>
            <a:stretch>
              <a:fillRect b="-9313" l="0" r="0" t="-931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 txBox="1"/>
          <p:nvPr/>
        </p:nvSpPr>
        <p:spPr>
          <a:xfrm>
            <a:off x="6438908" y="4271374"/>
            <a:ext cx="5410200" cy="15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99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DISEÑO 4+1</a:t>
            </a:r>
            <a:endParaRPr/>
          </a:p>
        </p:txBody>
      </p:sp>
      <p:sp>
        <p:nvSpPr>
          <p:cNvPr id="154" name="Google Shape;154;p8"/>
          <p:cNvSpPr/>
          <p:nvPr/>
        </p:nvSpPr>
        <p:spPr>
          <a:xfrm>
            <a:off x="0" y="0"/>
            <a:ext cx="3356078" cy="1079722"/>
          </a:xfrm>
          <a:custGeom>
            <a:rect b="b" l="l" r="r" t="t"/>
            <a:pathLst>
              <a:path extrusionOk="0" h="1079722" w="3356078">
                <a:moveTo>
                  <a:pt x="0" y="0"/>
                </a:moveTo>
                <a:lnTo>
                  <a:pt x="3356078" y="0"/>
                </a:lnTo>
                <a:lnTo>
                  <a:pt x="3356078" y="1079722"/>
                </a:lnTo>
                <a:lnTo>
                  <a:pt x="0" y="10797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02020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000"/>
            </a:blip>
            <a:stretch>
              <a:fillRect b="-9313" l="0" r="0" t="-931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9"/>
          <p:cNvSpPr/>
          <p:nvPr/>
        </p:nvSpPr>
        <p:spPr>
          <a:xfrm>
            <a:off x="0" y="0"/>
            <a:ext cx="3356078" cy="1079722"/>
          </a:xfrm>
          <a:custGeom>
            <a:rect b="b" l="l" r="r" t="t"/>
            <a:pathLst>
              <a:path extrusionOk="0" h="1079722" w="3356078">
                <a:moveTo>
                  <a:pt x="0" y="0"/>
                </a:moveTo>
                <a:lnTo>
                  <a:pt x="3356078" y="0"/>
                </a:lnTo>
                <a:lnTo>
                  <a:pt x="3356078" y="1079722"/>
                </a:lnTo>
                <a:lnTo>
                  <a:pt x="0" y="10797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/>
          <p:nvPr/>
        </p:nvSpPr>
        <p:spPr>
          <a:xfrm>
            <a:off x="12101650" y="3726988"/>
            <a:ext cx="5427483" cy="2703604"/>
          </a:xfrm>
          <a:custGeom>
            <a:rect b="b" l="l" r="r" t="t"/>
            <a:pathLst>
              <a:path extrusionOk="0" h="2962854" w="5427483">
                <a:moveTo>
                  <a:pt x="0" y="0"/>
                </a:moveTo>
                <a:lnTo>
                  <a:pt x="5427483" y="0"/>
                </a:lnTo>
                <a:lnTo>
                  <a:pt x="5427483" y="2962854"/>
                </a:lnTo>
                <a:lnTo>
                  <a:pt x="0" y="29628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743049" y="3793663"/>
            <a:ext cx="4945390" cy="2699680"/>
          </a:xfrm>
          <a:custGeom>
            <a:rect b="b" l="l" r="r" t="t"/>
            <a:pathLst>
              <a:path extrusionOk="0" h="2879659" w="5275083">
                <a:moveTo>
                  <a:pt x="0" y="0"/>
                </a:moveTo>
                <a:lnTo>
                  <a:pt x="5275083" y="0"/>
                </a:lnTo>
                <a:lnTo>
                  <a:pt x="5275083" y="2879659"/>
                </a:lnTo>
                <a:lnTo>
                  <a:pt x="0" y="28796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9"/>
          <p:cNvSpPr/>
          <p:nvPr/>
        </p:nvSpPr>
        <p:spPr>
          <a:xfrm>
            <a:off x="6333713" y="5491679"/>
            <a:ext cx="5122683" cy="2796465"/>
          </a:xfrm>
          <a:custGeom>
            <a:rect b="b" l="l" r="r" t="t"/>
            <a:pathLst>
              <a:path extrusionOk="0" h="2796465" w="5122683">
                <a:moveTo>
                  <a:pt x="0" y="0"/>
                </a:moveTo>
                <a:lnTo>
                  <a:pt x="5122683" y="0"/>
                </a:lnTo>
                <a:lnTo>
                  <a:pt x="5122683" y="2796464"/>
                </a:lnTo>
                <a:lnTo>
                  <a:pt x="0" y="27964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9"/>
          <p:cNvSpPr/>
          <p:nvPr/>
        </p:nvSpPr>
        <p:spPr>
          <a:xfrm>
            <a:off x="12100378" y="6787444"/>
            <a:ext cx="5430034" cy="2964247"/>
          </a:xfrm>
          <a:custGeom>
            <a:rect b="b" l="l" r="r" t="t"/>
            <a:pathLst>
              <a:path extrusionOk="0" h="2713270" w="4970283">
                <a:moveTo>
                  <a:pt x="0" y="0"/>
                </a:moveTo>
                <a:lnTo>
                  <a:pt x="4970283" y="0"/>
                </a:lnTo>
                <a:lnTo>
                  <a:pt x="4970283" y="2713269"/>
                </a:lnTo>
                <a:lnTo>
                  <a:pt x="0" y="27132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9"/>
          <p:cNvSpPr/>
          <p:nvPr/>
        </p:nvSpPr>
        <p:spPr>
          <a:xfrm>
            <a:off x="741938" y="7049983"/>
            <a:ext cx="4946506" cy="2700290"/>
          </a:xfrm>
          <a:custGeom>
            <a:rect b="b" l="l" r="r" t="t"/>
            <a:pathLst>
              <a:path extrusionOk="0" h="2700290" w="4946506">
                <a:moveTo>
                  <a:pt x="0" y="0"/>
                </a:moveTo>
                <a:lnTo>
                  <a:pt x="4946506" y="0"/>
                </a:lnTo>
                <a:lnTo>
                  <a:pt x="4946506" y="2700289"/>
                </a:lnTo>
                <a:lnTo>
                  <a:pt x="0" y="27002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9"/>
          <p:cNvSpPr txBox="1"/>
          <p:nvPr/>
        </p:nvSpPr>
        <p:spPr>
          <a:xfrm>
            <a:off x="4549619" y="866775"/>
            <a:ext cx="9188761" cy="1377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VISTA DE ESCENARIOS</a:t>
            </a:r>
            <a:endParaRPr/>
          </a:p>
        </p:txBody>
      </p:sp>
      <p:sp>
        <p:nvSpPr>
          <p:cNvPr id="167" name="Google Shape;167;p9"/>
          <p:cNvSpPr txBox="1"/>
          <p:nvPr/>
        </p:nvSpPr>
        <p:spPr>
          <a:xfrm>
            <a:off x="2057400" y="2318949"/>
            <a:ext cx="13712100" cy="10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7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9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Valida que el sistema cubra los procesos principales de la biblioteca mediante los casos de uso. </a:t>
            </a:r>
            <a:endParaRPr sz="3299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02020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000"/>
            </a:blip>
            <a:stretch>
              <a:fillRect b="-9313" l="0" r="0" t="-931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0"/>
          <p:cNvSpPr/>
          <p:nvPr/>
        </p:nvSpPr>
        <p:spPr>
          <a:xfrm>
            <a:off x="0" y="0"/>
            <a:ext cx="3356078" cy="1079722"/>
          </a:xfrm>
          <a:custGeom>
            <a:rect b="b" l="l" r="r" t="t"/>
            <a:pathLst>
              <a:path extrusionOk="0" h="1079722" w="3356078">
                <a:moveTo>
                  <a:pt x="0" y="0"/>
                </a:moveTo>
                <a:lnTo>
                  <a:pt x="3356078" y="0"/>
                </a:lnTo>
                <a:lnTo>
                  <a:pt x="3356078" y="1079722"/>
                </a:lnTo>
                <a:lnTo>
                  <a:pt x="0" y="10797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0"/>
          <p:cNvSpPr/>
          <p:nvPr/>
        </p:nvSpPr>
        <p:spPr>
          <a:xfrm>
            <a:off x="2645779" y="2426577"/>
            <a:ext cx="12996442" cy="7094738"/>
          </a:xfrm>
          <a:custGeom>
            <a:rect b="b" l="l" r="r" t="t"/>
            <a:pathLst>
              <a:path extrusionOk="0" h="7094738" w="12996442">
                <a:moveTo>
                  <a:pt x="0" y="0"/>
                </a:moveTo>
                <a:lnTo>
                  <a:pt x="12996442" y="0"/>
                </a:lnTo>
                <a:lnTo>
                  <a:pt x="12996442" y="7094738"/>
                </a:lnTo>
                <a:lnTo>
                  <a:pt x="0" y="70947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0"/>
          <p:cNvSpPr txBox="1"/>
          <p:nvPr/>
        </p:nvSpPr>
        <p:spPr>
          <a:xfrm>
            <a:off x="4549619" y="866775"/>
            <a:ext cx="9188761" cy="1377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CASO DE USO</a:t>
            </a:r>
            <a:endParaRPr/>
          </a:p>
        </p:txBody>
      </p:sp>
    </p:spTree>
  </p:cSld>
  <p:clrMapOvr>
    <a:masterClrMapping/>
  </p:clrMapOvr>
  <p:transition spd="slow">
    <p:push dir="r"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02020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000"/>
            </a:blip>
            <a:stretch>
              <a:fillRect b="-9313" l="0" r="0" t="-931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1"/>
          <p:cNvSpPr/>
          <p:nvPr/>
        </p:nvSpPr>
        <p:spPr>
          <a:xfrm>
            <a:off x="0" y="0"/>
            <a:ext cx="3356078" cy="1079722"/>
          </a:xfrm>
          <a:custGeom>
            <a:rect b="b" l="l" r="r" t="t"/>
            <a:pathLst>
              <a:path extrusionOk="0" h="1079722" w="3356078">
                <a:moveTo>
                  <a:pt x="0" y="0"/>
                </a:moveTo>
                <a:lnTo>
                  <a:pt x="3356078" y="0"/>
                </a:lnTo>
                <a:lnTo>
                  <a:pt x="3356078" y="1079722"/>
                </a:lnTo>
                <a:lnTo>
                  <a:pt x="0" y="10797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1"/>
          <p:cNvSpPr txBox="1"/>
          <p:nvPr/>
        </p:nvSpPr>
        <p:spPr>
          <a:xfrm>
            <a:off x="4549618" y="394418"/>
            <a:ext cx="9188761" cy="1377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ESPECIFICACION</a:t>
            </a:r>
            <a:endParaRPr/>
          </a:p>
        </p:txBody>
      </p:sp>
      <p:graphicFrame>
        <p:nvGraphicFramePr>
          <p:cNvPr id="183" name="Google Shape;183;p11"/>
          <p:cNvGraphicFramePr/>
          <p:nvPr/>
        </p:nvGraphicFramePr>
        <p:xfrm>
          <a:off x="2699503" y="181173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{5A479ECB-F1A9-4CF8-8C2E-5632B1983DF7}</a:tableStyleId>
              </a:tblPr>
              <a:tblGrid>
                <a:gridCol w="4259925"/>
                <a:gridCol w="8629075"/>
              </a:tblGrid>
              <a:tr h="235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000000"/>
                          </a:solidFill>
                        </a:rPr>
                        <a:t>RF-11</a:t>
                      </a:r>
                      <a:endParaRPr sz="1600" u="none" cap="none" strike="noStrike"/>
                    </a:p>
                  </a:txBody>
                  <a:tcPr marT="25675" marB="25675" marR="51325" marL="513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</a:rPr>
                        <a:t>Reserva de Libros</a:t>
                      </a:r>
                      <a:endParaRPr sz="1600" u="none" cap="none" strike="noStrike"/>
                    </a:p>
                  </a:txBody>
                  <a:tcPr marT="25675" marB="25675" marR="51325" marL="513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5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000000"/>
                          </a:solidFill>
                        </a:rPr>
                        <a:t>Versión</a:t>
                      </a:r>
                      <a:endParaRPr sz="1600" u="none" cap="none" strike="noStrike"/>
                    </a:p>
                  </a:txBody>
                  <a:tcPr marT="25675" marB="25675" marR="51325" marL="513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</a:rPr>
                        <a:t>1.0</a:t>
                      </a:r>
                      <a:endParaRPr sz="1600" u="none" cap="none" strike="noStrike"/>
                    </a:p>
                  </a:txBody>
                  <a:tcPr marT="25675" marB="25675" marR="51325" marL="513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5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000000"/>
                          </a:solidFill>
                        </a:rPr>
                        <a:t>Actores</a:t>
                      </a:r>
                      <a:endParaRPr sz="1600" u="none" cap="none" strike="noStrike"/>
                    </a:p>
                  </a:txBody>
                  <a:tcPr marT="25675" marB="25675" marR="51325" marL="513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</a:rPr>
                        <a:t>Estudiante, Docente</a:t>
                      </a:r>
                      <a:endParaRPr sz="1600" u="none" cap="none" strike="noStrike"/>
                    </a:p>
                  </a:txBody>
                  <a:tcPr marT="25675" marB="25675" marR="51325" marL="513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5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000000"/>
                          </a:solidFill>
                        </a:rPr>
                        <a:t>Objetivos asociados</a:t>
                      </a:r>
                      <a:endParaRPr sz="1600" u="none" cap="none" strike="noStrike"/>
                    </a:p>
                  </a:txBody>
                  <a:tcPr marT="25675" marB="25675" marR="51325" marL="513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</a:rPr>
                        <a:t>OBJ-11 Permitir reserva de materiales.</a:t>
                      </a:r>
                      <a:endParaRPr sz="1600" u="none" cap="none" strike="noStrike"/>
                    </a:p>
                  </a:txBody>
                  <a:tcPr marT="25675" marB="25675" marR="51325" marL="513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000000"/>
                          </a:solidFill>
                        </a:rPr>
                        <a:t>Requerimientos asociados</a:t>
                      </a:r>
                      <a:endParaRPr sz="1600" u="none" cap="none" strike="noStrike"/>
                    </a:p>
                  </a:txBody>
                  <a:tcPr marT="25675" marB="25675" marR="51325" marL="513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</a:rPr>
                        <a:t>RI-13 Gestión de reservas.</a:t>
                      </a:r>
                      <a:endParaRPr sz="1600" u="none" cap="none" strike="noStrike"/>
                    </a:p>
                  </a:txBody>
                  <a:tcPr marT="25675" marB="25675" marR="51325" marL="513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000000"/>
                          </a:solidFill>
                        </a:rPr>
                        <a:t>Descripción</a:t>
                      </a:r>
                      <a:endParaRPr sz="1600" u="none" cap="none" strike="noStrike"/>
                    </a:p>
                  </a:txBody>
                  <a:tcPr marT="25675" marB="25675" marR="51325" marL="513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</a:rPr>
                        <a:t>El sistema permitirá reservar materiales bibliográficos disponibles o próximos a liberarse.</a:t>
                      </a:r>
                      <a:endParaRPr sz="1600" u="none" cap="none" strike="noStrike"/>
                    </a:p>
                  </a:txBody>
                  <a:tcPr marT="25675" marB="25675" marR="51325" marL="513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000000"/>
                          </a:solidFill>
                        </a:rPr>
                        <a:t>Pre-condición</a:t>
                      </a:r>
                      <a:endParaRPr sz="1600" u="none" cap="none" strike="noStrike"/>
                    </a:p>
                  </a:txBody>
                  <a:tcPr marT="25675" marB="25675" marR="51325" marL="513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</a:rPr>
                        <a:t>El usuario debe encontrarse autenticado en el sistema.</a:t>
                      </a:r>
                      <a:endParaRPr sz="1600" u="none" cap="none" strike="noStrike"/>
                    </a:p>
                  </a:txBody>
                  <a:tcPr marT="25675" marB="25675" marR="51325" marL="513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77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000000"/>
                          </a:solidFill>
                        </a:rPr>
                        <a:t>Secuencia Normal</a:t>
                      </a:r>
                      <a:endParaRPr sz="1600" u="none" cap="none" strike="noStrike"/>
                    </a:p>
                  </a:txBody>
                  <a:tcPr marT="25675" marB="25675" marR="51325" marL="513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10160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AutoNum type="arabicPeriod"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</a:rPr>
                        <a:t> El usuario accede al catálogo en línea</a:t>
                      </a:r>
                      <a:endParaRPr/>
                    </a:p>
                    <a:p>
                      <a:pPr indent="-10160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AutoNum type="arabicPeriod"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</a:rPr>
                        <a:t> El usuario busca el libro mediante filtros (RF05)</a:t>
                      </a:r>
                      <a:endParaRPr/>
                    </a:p>
                    <a:p>
                      <a:pPr indent="-10160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AutoNum type="arabicPeriod"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</a:rPr>
                        <a:t> El sistema muestra los resultados de búsqueda</a:t>
                      </a:r>
                      <a:endParaRPr/>
                    </a:p>
                    <a:p>
                      <a:pPr indent="-10160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AutoNum type="arabicPeriod"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</a:rPr>
                        <a:t> El usuario selecciona el libro deseado</a:t>
                      </a:r>
                      <a:endParaRPr/>
                    </a:p>
                    <a:p>
                      <a:pPr indent="-10160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AutoNum type="arabicPeriod"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</a:rPr>
                        <a:t> El sistema muestra la información y disponibilidad del libro</a:t>
                      </a:r>
                      <a:endParaRPr/>
                    </a:p>
                    <a:p>
                      <a:pPr indent="-10160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AutoNum type="arabicPeriod"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</a:rPr>
                        <a:t> El usuario hace clic en "Reservar"</a:t>
                      </a:r>
                      <a:endParaRPr/>
                    </a:p>
                    <a:p>
                      <a:pPr indent="-10160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AutoNum type="arabicPeriod"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</a:rPr>
                        <a:t> El sistema verifica que el usuario esté autenticado (RF02)</a:t>
                      </a:r>
                      <a:endParaRPr/>
                    </a:p>
                    <a:p>
                      <a:pPr indent="-10160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AutoNum type="arabicPeriod"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</a:rPr>
                        <a:t> El sistema verifica que el libro esté disponible para reserva</a:t>
                      </a:r>
                      <a:endParaRPr/>
                    </a:p>
                    <a:p>
                      <a:pPr indent="-10160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AutoNum type="arabicPeriod"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</a:rPr>
                        <a:t> El sistema verifica que el usuario no haya excedido el límite</a:t>
                      </a:r>
                      <a:endParaRPr/>
                    </a:p>
                    <a:p>
                      <a:pPr indent="-10160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AutoNum type="arabicPeriod"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</a:rPr>
                        <a:t> El sistema registra la reserva bajo el ID del usuario</a:t>
                      </a:r>
                      <a:endParaRPr/>
                    </a:p>
                    <a:p>
                      <a:pPr indent="-10160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AutoNum type="arabicPeriod"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</a:rPr>
                        <a:t> El sistema cambia el estado del libro a "Reservado"</a:t>
                      </a:r>
                      <a:endParaRPr/>
                    </a:p>
                    <a:p>
                      <a:pPr indent="-10160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AutoNum type="arabicPeriod"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</a:rPr>
                        <a:t> El sistema muestra mensaje de confirmación al usuario</a:t>
                      </a:r>
                      <a:endParaRPr/>
                    </a:p>
                    <a:p>
                      <a:pPr indent="-10160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AutoNum type="arabicPeriod"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</a:rPr>
                        <a:t> El sistema envía correo de confirmación con el detalle de la reserva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675" marB="25675" marR="51325" marL="513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5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000000"/>
                          </a:solidFill>
                        </a:rPr>
                        <a:t>Post-condición</a:t>
                      </a:r>
                      <a:endParaRPr sz="1600" u="none" cap="none" strike="noStrike"/>
                    </a:p>
                  </a:txBody>
                  <a:tcPr marT="25675" marB="25675" marR="51325" marL="513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</a:rPr>
                        <a:t>La reserva queda registrada correctamente.</a:t>
                      </a:r>
                      <a:endParaRPr sz="1600" u="none" cap="none" strike="noStrike"/>
                    </a:p>
                  </a:txBody>
                  <a:tcPr marT="25675" marB="25675" marR="51325" marL="513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91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000000"/>
                          </a:solidFill>
                        </a:rPr>
                        <a:t>Excepciones</a:t>
                      </a:r>
                      <a:endParaRPr sz="1600" u="none" cap="none" strike="noStrike"/>
                    </a:p>
                  </a:txBody>
                  <a:tcPr marT="25675" marB="25675" marR="51325" marL="513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228600" lvl="0" marL="3810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</a:rPr>
                        <a:t>Paso 2 - Material no disponible para reserva: el sistema informa restricción.</a:t>
                      </a:r>
                      <a:endParaRPr sz="1600" u="none" cap="none" strike="noStrike"/>
                    </a:p>
                    <a:p>
                      <a:pPr indent="-228600" lvl="0" marL="3810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</a:rPr>
                        <a:t>Paso 4 - Error de registro: el sistema cancela operación.</a:t>
                      </a:r>
                      <a:endParaRPr sz="1600" u="none" cap="none" strike="noStrike"/>
                    </a:p>
                  </a:txBody>
                  <a:tcPr marT="25675" marB="25675" marR="51325" marL="513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000000"/>
                          </a:solidFill>
                        </a:rPr>
                        <a:t>Rendimiento</a:t>
                      </a:r>
                      <a:endParaRPr sz="1600" u="none" cap="none" strike="noStrike"/>
                    </a:p>
                  </a:txBody>
                  <a:tcPr marT="25675" marB="25675" marR="51325" marL="513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</a:rPr>
                        <a:t>Paso 2: 2 segundos</a:t>
                      </a:r>
                      <a:endParaRPr sz="16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</a:rPr>
                        <a:t>Paso 4: 3 segundos.</a:t>
                      </a:r>
                      <a:endParaRPr sz="1600" u="none" cap="none" strike="noStrike"/>
                    </a:p>
                  </a:txBody>
                  <a:tcPr marT="25675" marB="25675" marR="51325" marL="513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5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000000"/>
                          </a:solidFill>
                        </a:rPr>
                        <a:t>Frecuencia esperada</a:t>
                      </a:r>
                      <a:endParaRPr sz="1600" u="none" cap="none" strike="noStrike"/>
                    </a:p>
                  </a:txBody>
                  <a:tcPr marT="25675" marB="25675" marR="51325" marL="513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</a:rPr>
                        <a:t>120 veces/día.</a:t>
                      </a:r>
                      <a:endParaRPr sz="1600" u="none" cap="none" strike="noStrike"/>
                    </a:p>
                  </a:txBody>
                  <a:tcPr marT="25675" marB="25675" marR="51325" marL="513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000000"/>
                          </a:solidFill>
                        </a:rPr>
                        <a:t>Comentarios</a:t>
                      </a:r>
                      <a:endParaRPr sz="1600" u="none" cap="none" strike="noStrike"/>
                    </a:p>
                  </a:txBody>
                  <a:tcPr marT="25675" marB="25675" marR="51325" marL="513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</a:rPr>
                        <a:t>El sistema deberá respetar límites máximos de reservas por usuario.</a:t>
                      </a:r>
                      <a:endParaRPr sz="1600" u="none" cap="none" strike="noStrike"/>
                    </a:p>
                  </a:txBody>
                  <a:tcPr marT="25675" marB="25675" marR="51325" marL="513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 dir="r"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02020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2"/>
          <p:cNvSpPr/>
          <p:nvPr/>
        </p:nvSpPr>
        <p:spPr>
          <a:xfrm>
            <a:off x="-3810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000"/>
            </a:blip>
            <a:stretch>
              <a:fillRect b="-9313" l="0" r="0" t="-931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2"/>
          <p:cNvSpPr/>
          <p:nvPr/>
        </p:nvSpPr>
        <p:spPr>
          <a:xfrm>
            <a:off x="0" y="0"/>
            <a:ext cx="3356078" cy="1079722"/>
          </a:xfrm>
          <a:custGeom>
            <a:rect b="b" l="l" r="r" t="t"/>
            <a:pathLst>
              <a:path extrusionOk="0" h="1079722" w="3356078">
                <a:moveTo>
                  <a:pt x="0" y="0"/>
                </a:moveTo>
                <a:lnTo>
                  <a:pt x="3356078" y="0"/>
                </a:lnTo>
                <a:lnTo>
                  <a:pt x="3356078" y="1079722"/>
                </a:lnTo>
                <a:lnTo>
                  <a:pt x="0" y="10797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2"/>
          <p:cNvSpPr txBox="1"/>
          <p:nvPr/>
        </p:nvSpPr>
        <p:spPr>
          <a:xfrm>
            <a:off x="4549619" y="866775"/>
            <a:ext cx="9188761" cy="1377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VISTA LOGICA</a:t>
            </a:r>
            <a:endParaRPr/>
          </a:p>
        </p:txBody>
      </p:sp>
      <p:sp>
        <p:nvSpPr>
          <p:cNvPr id="191" name="Google Shape;191;p12"/>
          <p:cNvSpPr txBox="1"/>
          <p:nvPr/>
        </p:nvSpPr>
        <p:spPr>
          <a:xfrm>
            <a:off x="2287950" y="2121870"/>
            <a:ext cx="13712100" cy="10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7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9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Organiza las funcionalidades del sistema en módulos como usuarios, catálogo, préstamos y reportes. </a:t>
            </a:r>
            <a:endParaRPr sz="3299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192" name="Google Shape;192;p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90875" y="3602050"/>
            <a:ext cx="10753151" cy="599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 dir="r"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02020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000"/>
            </a:blip>
            <a:stretch>
              <a:fillRect b="-9313" l="0" r="0" t="-931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3"/>
          <p:cNvSpPr/>
          <p:nvPr/>
        </p:nvSpPr>
        <p:spPr>
          <a:xfrm>
            <a:off x="0" y="0"/>
            <a:ext cx="3356078" cy="1079722"/>
          </a:xfrm>
          <a:custGeom>
            <a:rect b="b" l="l" r="r" t="t"/>
            <a:pathLst>
              <a:path extrusionOk="0" h="1079722" w="3356078">
                <a:moveTo>
                  <a:pt x="0" y="0"/>
                </a:moveTo>
                <a:lnTo>
                  <a:pt x="3356078" y="0"/>
                </a:lnTo>
                <a:lnTo>
                  <a:pt x="3356078" y="1079722"/>
                </a:lnTo>
                <a:lnTo>
                  <a:pt x="0" y="10797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3"/>
          <p:cNvSpPr txBox="1"/>
          <p:nvPr/>
        </p:nvSpPr>
        <p:spPr>
          <a:xfrm>
            <a:off x="4549619" y="866775"/>
            <a:ext cx="9188761" cy="1377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VISTA DE DESARROLLO</a:t>
            </a:r>
            <a:endParaRPr/>
          </a:p>
        </p:txBody>
      </p:sp>
      <p:pic>
        <p:nvPicPr>
          <p:cNvPr id="200" name="Google Shape;200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38660" y="3429000"/>
            <a:ext cx="11410678" cy="5760275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3"/>
          <p:cNvSpPr txBox="1"/>
          <p:nvPr/>
        </p:nvSpPr>
        <p:spPr>
          <a:xfrm>
            <a:off x="2287950" y="2146191"/>
            <a:ext cx="13712100" cy="10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7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9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Estructura el software en componentes para facilitar su desarrollo y mantenimiento. </a:t>
            </a:r>
            <a:endParaRPr/>
          </a:p>
        </p:txBody>
      </p:sp>
    </p:spTree>
  </p:cSld>
  <p:clrMapOvr>
    <a:masterClrMapping/>
  </p:clrMapOvr>
  <p:transition spd="slow">
    <p:push dir="r"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02020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000"/>
            </a:blip>
            <a:stretch>
              <a:fillRect b="-9313" l="0" r="0" t="-931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4"/>
          <p:cNvSpPr/>
          <p:nvPr/>
        </p:nvSpPr>
        <p:spPr>
          <a:xfrm>
            <a:off x="0" y="0"/>
            <a:ext cx="3356078" cy="1079722"/>
          </a:xfrm>
          <a:custGeom>
            <a:rect b="b" l="l" r="r" t="t"/>
            <a:pathLst>
              <a:path extrusionOk="0" h="1079722" w="3356078">
                <a:moveTo>
                  <a:pt x="0" y="0"/>
                </a:moveTo>
                <a:lnTo>
                  <a:pt x="3356078" y="0"/>
                </a:lnTo>
                <a:lnTo>
                  <a:pt x="3356078" y="1079722"/>
                </a:lnTo>
                <a:lnTo>
                  <a:pt x="0" y="10797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4"/>
          <p:cNvSpPr txBox="1"/>
          <p:nvPr/>
        </p:nvSpPr>
        <p:spPr>
          <a:xfrm>
            <a:off x="4549619" y="866775"/>
            <a:ext cx="9188761" cy="1377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VISTA DE PROCESO</a:t>
            </a:r>
            <a:endParaRPr/>
          </a:p>
        </p:txBody>
      </p:sp>
      <p:sp>
        <p:nvSpPr>
          <p:cNvPr id="209" name="Google Shape;209;p14"/>
          <p:cNvSpPr txBox="1"/>
          <p:nvPr/>
        </p:nvSpPr>
        <p:spPr>
          <a:xfrm>
            <a:off x="4572000" y="4962521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0" name="Google Shape;210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32864" y="3218800"/>
            <a:ext cx="12222275" cy="5976475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4"/>
          <p:cNvSpPr txBox="1"/>
          <p:nvPr/>
        </p:nvSpPr>
        <p:spPr>
          <a:xfrm>
            <a:off x="2287953" y="2244725"/>
            <a:ext cx="13712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7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9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Describe cómo interactúan los módulos durante las operaciones del sistema. </a:t>
            </a:r>
            <a:endParaRPr sz="3299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  <p:transition spd="slow">
    <p:push dir="r"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02020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000"/>
            </a:blip>
            <a:stretch>
              <a:fillRect b="-9313" l="0" r="0" t="-931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5"/>
          <p:cNvSpPr/>
          <p:nvPr/>
        </p:nvSpPr>
        <p:spPr>
          <a:xfrm>
            <a:off x="0" y="0"/>
            <a:ext cx="3356078" cy="1079722"/>
          </a:xfrm>
          <a:custGeom>
            <a:rect b="b" l="l" r="r" t="t"/>
            <a:pathLst>
              <a:path extrusionOk="0" h="1079722" w="3356078">
                <a:moveTo>
                  <a:pt x="0" y="0"/>
                </a:moveTo>
                <a:lnTo>
                  <a:pt x="3356078" y="0"/>
                </a:lnTo>
                <a:lnTo>
                  <a:pt x="3356078" y="1079722"/>
                </a:lnTo>
                <a:lnTo>
                  <a:pt x="0" y="10797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5"/>
          <p:cNvSpPr txBox="1"/>
          <p:nvPr/>
        </p:nvSpPr>
        <p:spPr>
          <a:xfrm>
            <a:off x="4549619" y="866775"/>
            <a:ext cx="9188761" cy="1377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VISTA FISICA</a:t>
            </a:r>
            <a:endParaRPr/>
          </a:p>
        </p:txBody>
      </p:sp>
      <p:pic>
        <p:nvPicPr>
          <p:cNvPr id="219" name="Google Shape;219;p15"/>
          <p:cNvPicPr preferRelativeResize="0"/>
          <p:nvPr/>
        </p:nvPicPr>
        <p:blipFill rotWithShape="1">
          <a:blip r:embed="rId5">
            <a:alphaModFix/>
          </a:blip>
          <a:srcRect b="0" l="0" r="0" t="13890"/>
          <a:stretch/>
        </p:blipFill>
        <p:spPr>
          <a:xfrm>
            <a:off x="3530275" y="3762600"/>
            <a:ext cx="11227425" cy="5394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5"/>
          <p:cNvSpPr txBox="1"/>
          <p:nvPr/>
        </p:nvSpPr>
        <p:spPr>
          <a:xfrm>
            <a:off x="2057400" y="2154725"/>
            <a:ext cx="13712100" cy="10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7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9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Representa la infraestructura donde se ejecutará el sistema, conectando usuarios, servidor y base de datos. </a:t>
            </a:r>
            <a:endParaRPr sz="3299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  <p:transition spd="slow">
    <p:push dir="r"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02020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000"/>
            </a:blip>
            <a:stretch>
              <a:fillRect b="-9313" l="0" r="0" t="-931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6"/>
          <p:cNvSpPr/>
          <p:nvPr/>
        </p:nvSpPr>
        <p:spPr>
          <a:xfrm>
            <a:off x="0" y="0"/>
            <a:ext cx="3356078" cy="1079722"/>
          </a:xfrm>
          <a:custGeom>
            <a:rect b="b" l="l" r="r" t="t"/>
            <a:pathLst>
              <a:path extrusionOk="0" h="1079722" w="3356078">
                <a:moveTo>
                  <a:pt x="0" y="0"/>
                </a:moveTo>
                <a:lnTo>
                  <a:pt x="3356078" y="0"/>
                </a:lnTo>
                <a:lnTo>
                  <a:pt x="3356078" y="1079722"/>
                </a:lnTo>
                <a:lnTo>
                  <a:pt x="0" y="10797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6"/>
          <p:cNvSpPr txBox="1"/>
          <p:nvPr/>
        </p:nvSpPr>
        <p:spPr>
          <a:xfrm>
            <a:off x="4549619" y="866775"/>
            <a:ext cx="9188761" cy="1377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CALIDAD</a:t>
            </a:r>
            <a:endParaRPr/>
          </a:p>
        </p:txBody>
      </p:sp>
      <p:graphicFrame>
        <p:nvGraphicFramePr>
          <p:cNvPr id="229" name="Google Shape;229;p16"/>
          <p:cNvGraphicFramePr/>
          <p:nvPr/>
        </p:nvGraphicFramePr>
        <p:xfrm>
          <a:off x="423582" y="347487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{183E181D-4D41-48CC-BE4F-43669A7A1445}</a:tableStyleId>
              </a:tblPr>
              <a:tblGrid>
                <a:gridCol w="1600200"/>
                <a:gridCol w="2133600"/>
                <a:gridCol w="3124200"/>
                <a:gridCol w="1691675"/>
              </a:tblGrid>
              <a:tr h="155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Categoría</a:t>
                      </a:r>
                      <a:endParaRPr/>
                    </a:p>
                  </a:txBody>
                  <a:tcPr marT="6475" marB="6475" marR="9700" marL="970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Criterio</a:t>
                      </a:r>
                      <a:endParaRPr/>
                    </a:p>
                  </a:txBody>
                  <a:tcPr marT="6475" marB="6475" marR="9700" marL="970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Pregunta de Evaluación</a:t>
                      </a:r>
                      <a:endParaRPr/>
                    </a:p>
                  </a:txBody>
                  <a:tcPr marT="6475" marB="6475" marR="9700" marL="970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Estado</a:t>
                      </a:r>
                      <a:endParaRPr/>
                    </a:p>
                  </a:txBody>
                  <a:tcPr marT="6475" marB="6475" marR="9700" marL="970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5A5A5"/>
                    </a:solidFill>
                  </a:tcPr>
                </a:tc>
              </a:tr>
              <a:tr h="724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Adecuación Funcional</a:t>
                      </a:r>
                      <a:endParaRPr/>
                    </a:p>
                  </a:txBody>
                  <a:tcPr marT="6475" marB="6475" marR="9700" marL="970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Completitud funcional</a:t>
                      </a:r>
                      <a:endParaRPr/>
                    </a:p>
                  </a:txBody>
                  <a:tcPr marT="6475" marB="6475" marR="9700" marL="970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¿El prototipo representa las funcionalidades principales definidas en los requisitos?</a:t>
                      </a:r>
                      <a:endParaRPr/>
                    </a:p>
                  </a:txBody>
                  <a:tcPr marT="6475" marB="6475" marR="9700" marL="970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FBFBF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Sí / No / Parcial</a:t>
                      </a:r>
                      <a:endParaRPr/>
                    </a:p>
                  </a:txBody>
                  <a:tcPr marT="6475" marB="6475" marR="9700" marL="970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39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475" marB="6475" marR="9700" marL="97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Corrección funcional</a:t>
                      </a:r>
                      <a:endParaRPr/>
                    </a:p>
                  </a:txBody>
                  <a:tcPr marT="6475" marB="6475" marR="9700" marL="970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¿Los flujos representados siguen la lógica esperada del sistema?</a:t>
                      </a:r>
                      <a:endParaRPr/>
                    </a:p>
                  </a:txBody>
                  <a:tcPr marT="6475" marB="6475" marR="9700" marL="970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FBFBF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Sí / No / Parcial</a:t>
                      </a:r>
                      <a:endParaRPr/>
                    </a:p>
                  </a:txBody>
                  <a:tcPr marT="6475" marB="6475" marR="9700" marL="970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0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475" marB="6475" marR="9700" marL="97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Pertinencia funcional</a:t>
                      </a:r>
                      <a:endParaRPr/>
                    </a:p>
                  </a:txBody>
                  <a:tcPr marT="6475" marB="6475" marR="9700" marL="970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¿Las pantallas responden a necesidades reales de los actores definidos?</a:t>
                      </a:r>
                      <a:endParaRPr/>
                    </a:p>
                  </a:txBody>
                  <a:tcPr marT="6475" marB="6475" marR="9700" marL="970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FBFBF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Sí / No / Parcial</a:t>
                      </a:r>
                      <a:endParaRPr/>
                    </a:p>
                  </a:txBody>
                  <a:tcPr marT="6475" marB="6475" marR="9700" marL="970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0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Compatibilidad</a:t>
                      </a:r>
                      <a:endParaRPr/>
                    </a:p>
                  </a:txBody>
                  <a:tcPr marT="6475" marB="6475" marR="9700" marL="970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Adaptabilidad visual</a:t>
                      </a:r>
                      <a:endParaRPr/>
                    </a:p>
                  </a:txBody>
                  <a:tcPr marT="6475" marB="6475" marR="9700" marL="970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¿La interfaz considera visualización adecuada en distintos tamaños de pantalla?</a:t>
                      </a:r>
                      <a:endParaRPr/>
                    </a:p>
                  </a:txBody>
                  <a:tcPr marT="6475" marB="6475" marR="9700" marL="970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FBFBF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Sí / No / Parcial</a:t>
                      </a:r>
                      <a:endParaRPr/>
                    </a:p>
                  </a:txBody>
                  <a:tcPr marT="6475" marB="6475" marR="9700" marL="970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39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Usabilidad</a:t>
                      </a:r>
                      <a:endParaRPr/>
                    </a:p>
                  </a:txBody>
                  <a:tcPr marT="6475" marB="6475" marR="9700" marL="970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Inteligibilidad</a:t>
                      </a:r>
                      <a:endParaRPr/>
                    </a:p>
                  </a:txBody>
                  <a:tcPr marT="6475" marB="6475" marR="9700" marL="970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¿Las opciones y funciones se comprenden fácilmente?</a:t>
                      </a:r>
                      <a:endParaRPr/>
                    </a:p>
                  </a:txBody>
                  <a:tcPr marT="6475" marB="6475" marR="9700" marL="970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FBFBF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Sí / No / Parcial</a:t>
                      </a:r>
                      <a:endParaRPr/>
                    </a:p>
                  </a:txBody>
                  <a:tcPr marT="6475" marB="6475" marR="9700" marL="970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81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475" marB="6475" marR="9700" marL="97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Facilidad de aprendizaje</a:t>
                      </a:r>
                      <a:endParaRPr/>
                    </a:p>
                  </a:txBody>
                  <a:tcPr marT="6475" marB="6475" marR="9700" marL="970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¿Un usuario nuevo podría entender cómo usar el sistema observando la interfaz?</a:t>
                      </a:r>
                      <a:endParaRPr/>
                    </a:p>
                  </a:txBody>
                  <a:tcPr marT="6475" marB="6475" marR="9700" marL="970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FBFBF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Sí / No / Parcial</a:t>
                      </a:r>
                      <a:endParaRPr/>
                    </a:p>
                  </a:txBody>
                  <a:tcPr marT="6475" marB="6475" marR="9700" marL="970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39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475" marB="6475" marR="9700" marL="97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Operabilidad</a:t>
                      </a:r>
                      <a:endParaRPr/>
                    </a:p>
                  </a:txBody>
                  <a:tcPr marT="6475" marB="6475" marR="9700" marL="970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¿La navegación entre pantallas es clara y consistente?</a:t>
                      </a:r>
                      <a:endParaRPr/>
                    </a:p>
                  </a:txBody>
                  <a:tcPr marT="6475" marB="6475" marR="9700" marL="970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FBFBF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Sí / No / Parcial</a:t>
                      </a:r>
                      <a:endParaRPr/>
                    </a:p>
                  </a:txBody>
                  <a:tcPr marT="6475" marB="6475" marR="9700" marL="970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24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475" marB="6475" marR="9700" marL="97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Protección frente a errores</a:t>
                      </a:r>
                      <a:endParaRPr/>
                    </a:p>
                  </a:txBody>
                  <a:tcPr marT="6475" marB="6475" marR="9700" marL="970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¿El prototipo contempla mensajes de validación o confirmación en acciones importantes?</a:t>
                      </a:r>
                      <a:endParaRPr/>
                    </a:p>
                  </a:txBody>
                  <a:tcPr marT="6475" marB="6475" marR="9700" marL="970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FBFBF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Sí / No / Parcial</a:t>
                      </a:r>
                      <a:endParaRPr/>
                    </a:p>
                  </a:txBody>
                  <a:tcPr marT="6475" marB="6475" marR="9700" marL="970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0" name="Google Shape;230;p16"/>
          <p:cNvGraphicFramePr/>
          <p:nvPr/>
        </p:nvGraphicFramePr>
        <p:xfrm>
          <a:off x="9372266" y="34803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{183E181D-4D41-48CC-BE4F-43669A7A1445}</a:tableStyleId>
              </a:tblPr>
              <a:tblGrid>
                <a:gridCol w="1584925"/>
                <a:gridCol w="2057400"/>
                <a:gridCol w="3124200"/>
                <a:gridCol w="1673500"/>
              </a:tblGrid>
              <a:tr h="447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600" marB="6600" marR="9875" marL="987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Estética</a:t>
                      </a:r>
                      <a:endParaRPr/>
                    </a:p>
                  </a:txBody>
                  <a:tcPr marT="6600" marB="6600" marR="9875" marL="98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¿La interfaz mantiene diseño visual uniforme y ordenado?</a:t>
                      </a:r>
                      <a:endParaRPr/>
                    </a:p>
                  </a:txBody>
                  <a:tcPr marT="6600" marB="6600" marR="9875" marL="98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FBFBF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Sí / No / Parcial</a:t>
                      </a:r>
                      <a:endParaRPr/>
                    </a:p>
                  </a:txBody>
                  <a:tcPr marT="6600" marB="6600" marR="9875" marL="98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20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600" marB="6600" marR="9875" marL="987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Accesibilidad</a:t>
                      </a:r>
                      <a:endParaRPr/>
                    </a:p>
                  </a:txBody>
                  <a:tcPr marT="6600" marB="6600" marR="9875" marL="98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¿Los textos, botones y elementos son legibles y distinguibles?</a:t>
                      </a:r>
                      <a:endParaRPr/>
                    </a:p>
                  </a:txBody>
                  <a:tcPr marT="6600" marB="6600" marR="9875" marL="98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FBFBF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Sí / No / Parcial</a:t>
                      </a:r>
                      <a:endParaRPr/>
                    </a:p>
                  </a:txBody>
                  <a:tcPr marT="6600" marB="6600" marR="9875" marL="98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9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Fiabilidad</a:t>
                      </a:r>
                      <a:endParaRPr/>
                    </a:p>
                  </a:txBody>
                  <a:tcPr marT="6600" marB="6600" marR="9875" marL="98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Consistencia</a:t>
                      </a:r>
                      <a:endParaRPr/>
                    </a:p>
                  </a:txBody>
                  <a:tcPr marT="6600" marB="6600" marR="9875" marL="98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¿Las pantallas mantienen comportamiento visual coherente entre módulos?</a:t>
                      </a:r>
                      <a:endParaRPr/>
                    </a:p>
                  </a:txBody>
                  <a:tcPr marT="6600" marB="6600" marR="9875" marL="98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FBFBF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Sí / No / Parcial</a:t>
                      </a:r>
                      <a:endParaRPr/>
                    </a:p>
                  </a:txBody>
                  <a:tcPr marT="6600" marB="6600" marR="9875" marL="98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20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Seguridad</a:t>
                      </a:r>
                      <a:endParaRPr/>
                    </a:p>
                  </a:txBody>
                  <a:tcPr marT="6600" marB="6600" marR="9875" marL="98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Control de acceso representado</a:t>
                      </a:r>
                      <a:endParaRPr/>
                    </a:p>
                  </a:txBody>
                  <a:tcPr marT="6600" marB="6600" marR="9875" marL="98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¿El prototipo contempla distintos perfiles o permisos de usuario?</a:t>
                      </a:r>
                      <a:endParaRPr/>
                    </a:p>
                  </a:txBody>
                  <a:tcPr marT="6600" marB="6600" marR="9875" marL="98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FBFBF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Sí / No / Parcial</a:t>
                      </a:r>
                      <a:endParaRPr/>
                    </a:p>
                  </a:txBody>
                  <a:tcPr marT="6600" marB="6600" marR="9875" marL="98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20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600" marB="6600" marR="9875" marL="987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Validación de entradas</a:t>
                      </a:r>
                      <a:endParaRPr/>
                    </a:p>
                  </a:txBody>
                  <a:tcPr marT="6600" marB="6600" marR="9875" marL="98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¿Se representan restricciones básicas en formularios y datos ingresados?</a:t>
                      </a:r>
                      <a:endParaRPr/>
                    </a:p>
                  </a:txBody>
                  <a:tcPr marT="6600" marB="6600" marR="9875" marL="98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FBFBF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Sí / No / Parcial</a:t>
                      </a:r>
                      <a:endParaRPr/>
                    </a:p>
                  </a:txBody>
                  <a:tcPr marT="6600" marB="6600" marR="9875" marL="98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6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Mantenibilidad</a:t>
                      </a:r>
                      <a:endParaRPr/>
                    </a:p>
                  </a:txBody>
                  <a:tcPr marT="6600" marB="6600" marR="9875" marL="98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Modularidad</a:t>
                      </a:r>
                      <a:endParaRPr/>
                    </a:p>
                  </a:txBody>
                  <a:tcPr marT="6600" marB="6600" marR="9875" marL="98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¿La organización del sistema muestra separación lógica entre funcionalidades?</a:t>
                      </a:r>
                      <a:endParaRPr/>
                    </a:p>
                  </a:txBody>
                  <a:tcPr marT="6600" marB="6600" marR="9875" marL="98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FBFBF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Sí / No / Parcial</a:t>
                      </a:r>
                      <a:endParaRPr/>
                    </a:p>
                  </a:txBody>
                  <a:tcPr marT="6600" marB="6600" marR="9875" marL="98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6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600" marB="6600" marR="9875" marL="987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Capacidad de evolución</a:t>
                      </a:r>
                      <a:endParaRPr/>
                    </a:p>
                  </a:txBody>
                  <a:tcPr marT="6600" marB="6600" marR="9875" marL="98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¿El diseño permitiría agregar nuevas pantallas o módulos sin afectar el flujo principal?</a:t>
                      </a:r>
                      <a:endParaRPr/>
                    </a:p>
                  </a:txBody>
                  <a:tcPr marT="6600" marB="6600" marR="9875" marL="98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FBFBF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Sí / No / Parcial</a:t>
                      </a:r>
                      <a:endParaRPr/>
                    </a:p>
                  </a:txBody>
                  <a:tcPr marT="6600" marB="6600" marR="9875" marL="98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9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Portabilidad</a:t>
                      </a:r>
                      <a:endParaRPr/>
                    </a:p>
                  </a:txBody>
                  <a:tcPr marT="6600" marB="6600" marR="9875" marL="98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Adaptabilidad</a:t>
                      </a:r>
                      <a:endParaRPr/>
                    </a:p>
                  </a:txBody>
                  <a:tcPr marT="6600" marB="6600" marR="9875" marL="98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¿El diseño considera posible utilización desde distintos dispositivos y entornos?</a:t>
                      </a:r>
                      <a:endParaRPr/>
                    </a:p>
                  </a:txBody>
                  <a:tcPr marT="6600" marB="6600" marR="9875" marL="98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FBFBF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Sí / No / Parcial</a:t>
                      </a:r>
                      <a:endParaRPr/>
                    </a:p>
                  </a:txBody>
                  <a:tcPr marT="6600" marB="6600" marR="9875" marL="98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31" name="Google Shape;231;p16"/>
          <p:cNvSpPr txBox="1"/>
          <p:nvPr/>
        </p:nvSpPr>
        <p:spPr>
          <a:xfrm>
            <a:off x="2057400" y="2154725"/>
            <a:ext cx="13712100" cy="10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7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9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Elegimos</a:t>
            </a:r>
            <a:r>
              <a:rPr lang="en-US" sz="329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la ISO 25010 para asegurar que el sistema cumpla criterios de calidad como usabilidad, rendimiento, seguridad y mantenibilidad </a:t>
            </a:r>
            <a:endParaRPr sz="3299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  <p:transition spd="slow">
    <p:push dir="r"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02020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000"/>
            </a:blip>
            <a:stretch>
              <a:fillRect b="-9313" l="0" r="0" t="-931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7"/>
          <p:cNvSpPr/>
          <p:nvPr/>
        </p:nvSpPr>
        <p:spPr>
          <a:xfrm>
            <a:off x="0" y="0"/>
            <a:ext cx="3356078" cy="1079722"/>
          </a:xfrm>
          <a:custGeom>
            <a:rect b="b" l="l" r="r" t="t"/>
            <a:pathLst>
              <a:path extrusionOk="0" h="1079722" w="3356078">
                <a:moveTo>
                  <a:pt x="0" y="0"/>
                </a:moveTo>
                <a:lnTo>
                  <a:pt x="3356078" y="0"/>
                </a:lnTo>
                <a:lnTo>
                  <a:pt x="3356078" y="1079722"/>
                </a:lnTo>
                <a:lnTo>
                  <a:pt x="0" y="10797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7"/>
          <p:cNvSpPr txBox="1"/>
          <p:nvPr/>
        </p:nvSpPr>
        <p:spPr>
          <a:xfrm>
            <a:off x="4549619" y="866775"/>
            <a:ext cx="9188761" cy="1377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PROTOTIPADO</a:t>
            </a:r>
            <a:endParaRPr/>
          </a:p>
        </p:txBody>
      </p:sp>
      <p:sp>
        <p:nvSpPr>
          <p:cNvPr id="239" name="Google Shape;239;p17"/>
          <p:cNvSpPr txBox="1"/>
          <p:nvPr/>
        </p:nvSpPr>
        <p:spPr>
          <a:xfrm>
            <a:off x="2287975" y="2388476"/>
            <a:ext cx="13712100" cy="15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7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9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Para el desarrollo del proyecto UNILIB empezamos con la metodología</a:t>
            </a:r>
            <a:endParaRPr/>
          </a:p>
          <a:p>
            <a:pPr indent="0" lvl="0" marL="0" marR="0" rtl="0" algn="ctr">
              <a:lnSpc>
                <a:spcPct val="107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9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Extreme Programming (XP),  permite validar que los procesos principales responden a lo que necesita el cliente antes de iniciar el desarrollo del sistema. </a:t>
            </a:r>
            <a:endParaRPr sz="3299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240" name="Google Shape;24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5800" y="4762500"/>
            <a:ext cx="4536990" cy="25520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72200" y="4762500"/>
            <a:ext cx="5371714" cy="25520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461544" y="4800382"/>
            <a:ext cx="5369256" cy="2542443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17"/>
          <p:cNvSpPr txBox="1"/>
          <p:nvPr/>
        </p:nvSpPr>
        <p:spPr>
          <a:xfrm>
            <a:off x="6876857" y="7703555"/>
            <a:ext cx="4114800" cy="4488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7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9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Mockup</a:t>
            </a:r>
            <a:endParaRPr/>
          </a:p>
        </p:txBody>
      </p:sp>
      <p:sp>
        <p:nvSpPr>
          <p:cNvPr id="244" name="Google Shape;244;p17"/>
          <p:cNvSpPr txBox="1"/>
          <p:nvPr/>
        </p:nvSpPr>
        <p:spPr>
          <a:xfrm>
            <a:off x="896895" y="7703554"/>
            <a:ext cx="4114800" cy="4488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7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9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Wiraframe</a:t>
            </a:r>
            <a:endParaRPr sz="3299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45" name="Google Shape;245;p17"/>
          <p:cNvSpPr txBox="1"/>
          <p:nvPr/>
        </p:nvSpPr>
        <p:spPr>
          <a:xfrm>
            <a:off x="13088772" y="7703553"/>
            <a:ext cx="4114800" cy="10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7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9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Prototipo</a:t>
            </a:r>
            <a:endParaRPr sz="3299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0" lvl="0" marL="0" marR="0" rtl="0" algn="ctr">
              <a:lnSpc>
                <a:spcPct val="107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9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(no funcional)</a:t>
            </a:r>
            <a:endParaRPr sz="3299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246" name="Google Shape;246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 rot="-5400000">
            <a:off x="5229880" y="5631973"/>
            <a:ext cx="1011429" cy="8131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 rot="-5400000">
            <a:off x="11549275" y="5631974"/>
            <a:ext cx="1011429" cy="8131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 dir="r"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02020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000"/>
            </a:blip>
            <a:stretch>
              <a:fillRect b="-9313" l="0" r="0" t="-931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8"/>
          <p:cNvSpPr/>
          <p:nvPr/>
        </p:nvSpPr>
        <p:spPr>
          <a:xfrm>
            <a:off x="0" y="0"/>
            <a:ext cx="3356078" cy="1079722"/>
          </a:xfrm>
          <a:custGeom>
            <a:rect b="b" l="l" r="r" t="t"/>
            <a:pathLst>
              <a:path extrusionOk="0" h="1079722" w="3356078">
                <a:moveTo>
                  <a:pt x="0" y="0"/>
                </a:moveTo>
                <a:lnTo>
                  <a:pt x="3356078" y="0"/>
                </a:lnTo>
                <a:lnTo>
                  <a:pt x="3356078" y="1079722"/>
                </a:lnTo>
                <a:lnTo>
                  <a:pt x="0" y="10797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8"/>
          <p:cNvSpPr txBox="1"/>
          <p:nvPr/>
        </p:nvSpPr>
        <p:spPr>
          <a:xfrm>
            <a:off x="4549619" y="866775"/>
            <a:ext cx="9188761" cy="1377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PROTOTIPO</a:t>
            </a:r>
            <a:endParaRPr/>
          </a:p>
        </p:txBody>
      </p:sp>
      <p:sp>
        <p:nvSpPr>
          <p:cNvPr id="255" name="Google Shape;255;p18"/>
          <p:cNvSpPr txBox="1"/>
          <p:nvPr/>
        </p:nvSpPr>
        <p:spPr>
          <a:xfrm>
            <a:off x="2287950" y="9525350"/>
            <a:ext cx="137121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7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9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Enlace: https://drive.google.com/file/d/1Io23lb56WiZvUDytBG7JJLgY6UUc56RX/view?usp=drive_link</a:t>
            </a:r>
            <a:endParaRPr sz="2599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256" name="Google Shape;256;p18" title="video_prototipo.mp4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43375" y="2339850"/>
            <a:ext cx="10001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 dir="r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02020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000"/>
            </a:blip>
            <a:stretch>
              <a:fillRect b="-9313" l="0" r="0" t="-931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9"/>
          <p:cNvSpPr/>
          <p:nvPr/>
        </p:nvSpPr>
        <p:spPr>
          <a:xfrm>
            <a:off x="0" y="0"/>
            <a:ext cx="3356078" cy="1079722"/>
          </a:xfrm>
          <a:custGeom>
            <a:rect b="b" l="l" r="r" t="t"/>
            <a:pathLst>
              <a:path extrusionOk="0" h="1079722" w="3356078">
                <a:moveTo>
                  <a:pt x="0" y="0"/>
                </a:moveTo>
                <a:lnTo>
                  <a:pt x="3356078" y="0"/>
                </a:lnTo>
                <a:lnTo>
                  <a:pt x="3356078" y="1079722"/>
                </a:lnTo>
                <a:lnTo>
                  <a:pt x="0" y="10797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9"/>
          <p:cNvSpPr txBox="1"/>
          <p:nvPr/>
        </p:nvSpPr>
        <p:spPr>
          <a:xfrm>
            <a:off x="4549619" y="866775"/>
            <a:ext cx="9188761" cy="1377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PLAN DE PRUEBAS</a:t>
            </a:r>
            <a:endParaRPr/>
          </a:p>
        </p:txBody>
      </p:sp>
      <p:pic>
        <p:nvPicPr>
          <p:cNvPr id="264" name="Google Shape;264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296400" y="3619500"/>
            <a:ext cx="7775309" cy="604061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16291" y="3619500"/>
            <a:ext cx="7775309" cy="582930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19"/>
          <p:cNvSpPr txBox="1"/>
          <p:nvPr/>
        </p:nvSpPr>
        <p:spPr>
          <a:xfrm>
            <a:off x="1371600" y="2239974"/>
            <a:ext cx="15502200" cy="10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9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Para las pruebas se utilizo  la herramienta Zephyr (Jira), esto para verificar que las funciones del sistema cumplan los requisitos definidos y reduzcan errores </a:t>
            </a:r>
            <a:endParaRPr/>
          </a:p>
        </p:txBody>
      </p:sp>
    </p:spTree>
  </p:cSld>
  <p:clrMapOvr>
    <a:masterClrMapping/>
  </p:clrMapOvr>
  <p:transition spd="slow">
    <p:push dir="r"/>
  </p:transition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02020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000"/>
            </a:blip>
            <a:stretch>
              <a:fillRect b="-9313" l="0" r="0" t="-931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0"/>
          <p:cNvSpPr/>
          <p:nvPr/>
        </p:nvSpPr>
        <p:spPr>
          <a:xfrm>
            <a:off x="0" y="0"/>
            <a:ext cx="3356078" cy="1079722"/>
          </a:xfrm>
          <a:custGeom>
            <a:rect b="b" l="l" r="r" t="t"/>
            <a:pathLst>
              <a:path extrusionOk="0" h="1079722" w="3356078">
                <a:moveTo>
                  <a:pt x="0" y="0"/>
                </a:moveTo>
                <a:lnTo>
                  <a:pt x="3356078" y="0"/>
                </a:lnTo>
                <a:lnTo>
                  <a:pt x="3356078" y="1079722"/>
                </a:lnTo>
                <a:lnTo>
                  <a:pt x="0" y="10797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0"/>
          <p:cNvSpPr txBox="1"/>
          <p:nvPr/>
        </p:nvSpPr>
        <p:spPr>
          <a:xfrm>
            <a:off x="4549619" y="866775"/>
            <a:ext cx="9188761" cy="1377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VERSIONES</a:t>
            </a:r>
            <a:endParaRPr/>
          </a:p>
        </p:txBody>
      </p:sp>
      <p:pic>
        <p:nvPicPr>
          <p:cNvPr id="274" name="Google Shape;274;p20" title="Captura de pantalla 2026-07-10 051053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928526" y="1947675"/>
            <a:ext cx="5473295" cy="770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0" title="Captura de pantalla 2026-07-10 051228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36700" y="3299913"/>
            <a:ext cx="5638800" cy="5000625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0"/>
          <p:cNvSpPr txBox="1"/>
          <p:nvPr/>
        </p:nvSpPr>
        <p:spPr>
          <a:xfrm>
            <a:off x="1039875" y="3916225"/>
            <a:ext cx="3943800" cy="3768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700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329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 utilizó GitHub como repositorio central del proyecto. Se almacenaron los informes y presentación de las evaluaciones anteriores</a:t>
            </a:r>
            <a:endParaRPr/>
          </a:p>
        </p:txBody>
      </p:sp>
    </p:spTree>
  </p:cSld>
  <p:clrMapOvr>
    <a:masterClrMapping/>
  </p:clrMapOvr>
  <p:transition spd="slow">
    <p:push dir="r"/>
  </p:transition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02020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000"/>
            </a:blip>
            <a:stretch>
              <a:fillRect b="-9313" l="0" r="0" t="-931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1"/>
          <p:cNvSpPr txBox="1"/>
          <p:nvPr/>
        </p:nvSpPr>
        <p:spPr>
          <a:xfrm>
            <a:off x="1480050" y="3204025"/>
            <a:ext cx="15327900" cy="59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El desarrollo del Sistema de Gestión Bibliotecaria UNILIB </a:t>
            </a:r>
            <a:r>
              <a:rPr lang="en-US" sz="43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propone una solución para optimizar la gestión bibliotecaria mediante la automatización de procesos, aplicando RUP, UML, la arquitectura 4+1 e ISO 25010, desarrollamos un prototipo alineado con los requerimientos del cliente y sienta las bases para una futura implementación funcional. </a:t>
            </a:r>
            <a:endParaRPr sz="1200"/>
          </a:p>
        </p:txBody>
      </p:sp>
      <p:sp>
        <p:nvSpPr>
          <p:cNvPr id="283" name="Google Shape;283;p21"/>
          <p:cNvSpPr/>
          <p:nvPr/>
        </p:nvSpPr>
        <p:spPr>
          <a:xfrm>
            <a:off x="0" y="0"/>
            <a:ext cx="3356078" cy="1079722"/>
          </a:xfrm>
          <a:custGeom>
            <a:rect b="b" l="l" r="r" t="t"/>
            <a:pathLst>
              <a:path extrusionOk="0" h="1079722" w="3356078">
                <a:moveTo>
                  <a:pt x="0" y="0"/>
                </a:moveTo>
                <a:lnTo>
                  <a:pt x="3356078" y="0"/>
                </a:lnTo>
                <a:lnTo>
                  <a:pt x="3356078" y="1079722"/>
                </a:lnTo>
                <a:lnTo>
                  <a:pt x="0" y="10797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1"/>
          <p:cNvSpPr txBox="1"/>
          <p:nvPr/>
        </p:nvSpPr>
        <p:spPr>
          <a:xfrm>
            <a:off x="4549619" y="1079725"/>
            <a:ext cx="91887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CONCLUSION</a:t>
            </a:r>
            <a:endParaRPr/>
          </a:p>
        </p:txBody>
      </p:sp>
    </p:spTree>
  </p:cSld>
  <p:clrMapOvr>
    <a:masterClrMapping/>
  </p:clrMapOvr>
  <p:transition spd="slow">
    <p:push dir="r"/>
  </p:transition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